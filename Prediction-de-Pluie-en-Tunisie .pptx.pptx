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Fraunces" charset="1" panose="00000000000000000000"/>
      <p:regular r:id="rId24"/>
    </p:embeddedFont>
    <p:embeddedFont>
      <p:font typeface="Arimo" charset="1" panose="020B0604020202020204"/>
      <p:regular r:id="rId25"/>
    </p:embeddedFont>
    <p:embeddedFont>
      <p:font typeface="Open Sans" charset="1" panose="020B0606030504020204"/>
      <p:regular r:id="rId26"/>
    </p:embeddedFont>
    <p:embeddedFont>
      <p:font typeface="Arimo Bold" charset="1" panose="020B0704020202020204"/>
      <p:regular r:id="rId28"/>
    </p:embeddedFont>
    <p:embeddedFont>
      <p:font typeface="Consolas" charset="1" panose="020B0609020204030204"/>
      <p:regular r:id="rId32"/>
    </p:embeddedFont>
    <p:embeddedFont>
      <p:font typeface="Consolas Bold" charset="1" panose="020B0709020204030204"/>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notesMasters/notesMaster1.xml" Type="http://schemas.openxmlformats.org/officeDocument/2006/relationships/notesMaster"/><Relationship Id="rId22" Target="theme/theme2.xml" Type="http://schemas.openxmlformats.org/officeDocument/2006/relationships/theme"/><Relationship Id="rId23" Target="notesSlides/notesSlide1.xml" Type="http://schemas.openxmlformats.org/officeDocument/2006/relationships/note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notesSlides/notesSlide2.xml" Type="http://schemas.openxmlformats.org/officeDocument/2006/relationships/notesSlide"/><Relationship Id="rId28" Target="fonts/font28.fntdata" Type="http://schemas.openxmlformats.org/officeDocument/2006/relationships/font"/><Relationship Id="rId29" Target="notesSlides/notesSlide3.xml" Type="http://schemas.openxmlformats.org/officeDocument/2006/relationships/notesSlide"/><Relationship Id="rId3" Target="viewProps.xml" Type="http://schemas.openxmlformats.org/officeDocument/2006/relationships/viewProps"/><Relationship Id="rId30" Target="notesSlides/notesSlide4.xml" Type="http://schemas.openxmlformats.org/officeDocument/2006/relationships/notesSlide"/><Relationship Id="rId31" Target="notesSlides/notesSlide5.xml" Type="http://schemas.openxmlformats.org/officeDocument/2006/relationships/notesSlide"/><Relationship Id="rId32" Target="fonts/font32.fntdata" Type="http://schemas.openxmlformats.org/officeDocument/2006/relationships/font"/><Relationship Id="rId33" Target="notesSlides/notesSlide6.xml" Type="http://schemas.openxmlformats.org/officeDocument/2006/relationships/notesSlide"/><Relationship Id="rId34" Target="fonts/font34.fntdata" Type="http://schemas.openxmlformats.org/officeDocument/2006/relationships/font"/><Relationship Id="rId35" Target="notesSlides/notesSlide7.xml" Type="http://schemas.openxmlformats.org/officeDocument/2006/relationships/notesSlide"/><Relationship Id="rId36" Target="notesSlides/notesSlide8.xml" Type="http://schemas.openxmlformats.org/officeDocument/2006/relationships/notesSlide"/><Relationship Id="rId37" Target="notesSlides/notesSlide9.xml" Type="http://schemas.openxmlformats.org/officeDocument/2006/relationships/notesSlide"/><Relationship Id="rId38" Target="notesSlides/notesSlide10.xml" Type="http://schemas.openxmlformats.org/officeDocument/2006/relationships/notesSlide"/><Relationship Id="rId39" Target="notesSlides/notesSlide11.xml" Type="http://schemas.openxmlformats.org/officeDocument/2006/relationships/notesSlide"/><Relationship Id="rId4" Target="theme/theme1.xml" Type="http://schemas.openxmlformats.org/officeDocument/2006/relationships/theme"/><Relationship Id="rId40" Target="notesSlides/notesSlide12.xml" Type="http://schemas.openxmlformats.org/officeDocument/2006/relationships/notesSlide"/><Relationship Id="rId41" Target="notesSlides/notesSlide13.xml" Type="http://schemas.openxmlformats.org/officeDocument/2006/relationships/notesSlide"/><Relationship Id="rId42" Target="notesSlides/notesSlide14.xml" Type="http://schemas.openxmlformats.org/officeDocument/2006/relationships/notesSlide"/><Relationship Id="rId43" Target="notesSlides/notesSlide15.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2.png" Type="http://schemas.openxmlformats.org/officeDocument/2006/relationships/image"/><Relationship Id="rId6" Target="../media/image3.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5.png" Type="http://schemas.openxmlformats.org/officeDocument/2006/relationships/image"/><Relationship Id="rId4"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7.png" Type="http://schemas.openxmlformats.org/officeDocument/2006/relationships/image"/><Relationship Id="rId4"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0.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3.jpe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6.png" Type="http://schemas.openxmlformats.org/officeDocument/2006/relationships/image"/><Relationship Id="rId4"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8.png" Type="http://schemas.openxmlformats.org/officeDocument/2006/relationships/image"/><Relationship Id="rId4" Target="../media/image1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2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2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EEE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FFA"/>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3"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4"/>
              <a:stretch>
                <a:fillRect l="0" t="0" r="0"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992238" y="3136849"/>
            <a:ext cx="9445523" cy="1790995"/>
          </a:xfrm>
          <a:prstGeom prst="rect">
            <a:avLst/>
          </a:prstGeom>
        </p:spPr>
        <p:txBody>
          <a:bodyPr anchor="t" rtlCol="false" tIns="0" lIns="0" bIns="0" rIns="0">
            <a:spAutoFit/>
          </a:bodyPr>
          <a:lstStyle/>
          <a:p>
            <a:pPr algn="l">
              <a:lnSpc>
                <a:spcPts val="6864"/>
              </a:lnSpc>
            </a:pPr>
            <a:r>
              <a:rPr lang="en-US" sz="5500">
                <a:solidFill>
                  <a:srgbClr val="3B4540"/>
                </a:solidFill>
                <a:latin typeface="Fraunces"/>
                <a:ea typeface="Fraunces"/>
                <a:cs typeface="Fraunces"/>
                <a:sym typeface="Fraunces"/>
              </a:rPr>
              <a:t>Prédiction de Pluie en Tunisie</a:t>
            </a:r>
          </a:p>
        </p:txBody>
      </p:sp>
      <p:sp>
        <p:nvSpPr>
          <p:cNvPr name="TextBox 11" id="11"/>
          <p:cNvSpPr txBox="true"/>
          <p:nvPr/>
        </p:nvSpPr>
        <p:spPr>
          <a:xfrm rot="0">
            <a:off x="992238" y="5248275"/>
            <a:ext cx="9445523" cy="1012031"/>
          </a:xfrm>
          <a:prstGeom prst="rect">
            <a:avLst/>
          </a:prstGeom>
        </p:spPr>
        <p:txBody>
          <a:bodyPr anchor="t" rtlCol="false" tIns="0" lIns="0" bIns="0" rIns="0">
            <a:spAutoFit/>
          </a:bodyPr>
          <a:lstStyle/>
          <a:p>
            <a:pPr algn="l">
              <a:lnSpc>
                <a:spcPts val="3511"/>
              </a:lnSpc>
            </a:pPr>
            <a:r>
              <a:rPr lang="en-US" sz="2200">
                <a:solidFill>
                  <a:srgbClr val="405449"/>
                </a:solidFill>
                <a:latin typeface="Arimo"/>
                <a:ea typeface="Arimo"/>
                <a:cs typeface="Arimo"/>
                <a:sym typeface="Arimo"/>
              </a:rPr>
              <a:t>Pipeline ML Hybride : Feature Engineering + Feature Learning + CatBoost + Deep Learning</a:t>
            </a:r>
          </a:p>
        </p:txBody>
      </p:sp>
      <p:grpSp>
        <p:nvGrpSpPr>
          <p:cNvPr name="Group 12" id="12"/>
          <p:cNvGrpSpPr/>
          <p:nvPr/>
        </p:nvGrpSpPr>
        <p:grpSpPr>
          <a:xfrm rot="0">
            <a:off x="992238" y="6588766"/>
            <a:ext cx="3588391" cy="532800"/>
            <a:chOff x="0" y="0"/>
            <a:chExt cx="4784522" cy="710400"/>
          </a:xfrm>
        </p:grpSpPr>
        <p:sp>
          <p:nvSpPr>
            <p:cNvPr name="Freeform 13" id="13"/>
            <p:cNvSpPr/>
            <p:nvPr/>
          </p:nvSpPr>
          <p:spPr>
            <a:xfrm flipH="false" flipV="false" rot="0">
              <a:off x="0" y="0"/>
              <a:ext cx="4784471" cy="710311"/>
            </a:xfrm>
            <a:custGeom>
              <a:avLst/>
              <a:gdLst/>
              <a:ahLst/>
              <a:cxnLst/>
              <a:rect r="r" b="b" t="t" l="l"/>
              <a:pathLst>
                <a:path h="710311" w="4784471">
                  <a:moveTo>
                    <a:pt x="0" y="272161"/>
                  </a:moveTo>
                  <a:cubicBezTo>
                    <a:pt x="0" y="121920"/>
                    <a:pt x="121920" y="0"/>
                    <a:pt x="272161" y="0"/>
                  </a:cubicBezTo>
                  <a:lnTo>
                    <a:pt x="4512310" y="0"/>
                  </a:lnTo>
                  <a:cubicBezTo>
                    <a:pt x="4662678" y="0"/>
                    <a:pt x="4784471" y="121920"/>
                    <a:pt x="4784471" y="272161"/>
                  </a:cubicBezTo>
                  <a:lnTo>
                    <a:pt x="4784471" y="438150"/>
                  </a:lnTo>
                  <a:cubicBezTo>
                    <a:pt x="4784471" y="588518"/>
                    <a:pt x="4662551" y="710311"/>
                    <a:pt x="4512310" y="710311"/>
                  </a:cubicBezTo>
                  <a:lnTo>
                    <a:pt x="272161" y="710311"/>
                  </a:lnTo>
                  <a:cubicBezTo>
                    <a:pt x="121920" y="710438"/>
                    <a:pt x="0" y="588518"/>
                    <a:pt x="0" y="438150"/>
                  </a:cubicBezTo>
                  <a:close/>
                </a:path>
              </a:pathLst>
            </a:custGeom>
            <a:solidFill>
              <a:srgbClr val="DDEEE0"/>
            </a:solidFill>
          </p:spPr>
        </p:sp>
      </p:grpSp>
      <p:sp>
        <p:nvSpPr>
          <p:cNvPr name="TextBox 14" id="14"/>
          <p:cNvSpPr txBox="true"/>
          <p:nvPr/>
        </p:nvSpPr>
        <p:spPr>
          <a:xfrm rot="0">
            <a:off x="1162345" y="6588023"/>
            <a:ext cx="4162577" cy="448570"/>
          </a:xfrm>
          <a:prstGeom prst="rect">
            <a:avLst/>
          </a:prstGeom>
        </p:spPr>
        <p:txBody>
          <a:bodyPr anchor="t" rtlCol="false" tIns="0" lIns="0" bIns="0" rIns="0">
            <a:spAutoFit/>
          </a:bodyPr>
          <a:lstStyle/>
          <a:p>
            <a:pPr algn="l">
              <a:lnSpc>
                <a:spcPts val="2713"/>
              </a:lnSpc>
            </a:pPr>
            <a:r>
              <a:rPr lang="en-US" sz="1700">
                <a:solidFill>
                  <a:srgbClr val="405449"/>
                </a:solidFill>
                <a:latin typeface="Arimo"/>
                <a:ea typeface="Arimo"/>
                <a:cs typeface="Arimo"/>
                <a:sym typeface="Arimo"/>
              </a:rPr>
              <a:t>17 ANS DE DONNÉES RÉELLES</a:t>
            </a:r>
          </a:p>
        </p:txBody>
      </p:sp>
      <p:grpSp>
        <p:nvGrpSpPr>
          <p:cNvPr name="Group 15" id="15"/>
          <p:cNvGrpSpPr/>
          <p:nvPr/>
        </p:nvGrpSpPr>
        <p:grpSpPr>
          <a:xfrm rot="0">
            <a:off x="4717552" y="6574479"/>
            <a:ext cx="1328147" cy="561384"/>
            <a:chOff x="0" y="0"/>
            <a:chExt cx="1770863" cy="748513"/>
          </a:xfrm>
        </p:grpSpPr>
        <p:sp>
          <p:nvSpPr>
            <p:cNvPr name="Freeform 16" id="16"/>
            <p:cNvSpPr/>
            <p:nvPr/>
          </p:nvSpPr>
          <p:spPr>
            <a:xfrm flipH="false" flipV="false" rot="0">
              <a:off x="0" y="0"/>
              <a:ext cx="1770761" cy="748411"/>
            </a:xfrm>
            <a:custGeom>
              <a:avLst/>
              <a:gdLst/>
              <a:ahLst/>
              <a:cxnLst/>
              <a:rect r="r" b="b" t="t" l="l"/>
              <a:pathLst>
                <a:path h="748411" w="1770761">
                  <a:moveTo>
                    <a:pt x="0" y="276860"/>
                  </a:moveTo>
                  <a:cubicBezTo>
                    <a:pt x="0" y="123952"/>
                    <a:pt x="123952" y="0"/>
                    <a:pt x="276860" y="0"/>
                  </a:cubicBezTo>
                  <a:lnTo>
                    <a:pt x="1493901" y="0"/>
                  </a:lnTo>
                  <a:cubicBezTo>
                    <a:pt x="1646809" y="0"/>
                    <a:pt x="1770761" y="123952"/>
                    <a:pt x="1770761" y="276860"/>
                  </a:cubicBezTo>
                  <a:lnTo>
                    <a:pt x="1770761" y="471551"/>
                  </a:lnTo>
                  <a:cubicBezTo>
                    <a:pt x="1770761" y="624459"/>
                    <a:pt x="1646809" y="748411"/>
                    <a:pt x="1493901" y="748411"/>
                  </a:cubicBezTo>
                  <a:lnTo>
                    <a:pt x="276860" y="748411"/>
                  </a:lnTo>
                  <a:cubicBezTo>
                    <a:pt x="123952" y="748538"/>
                    <a:pt x="0" y="624586"/>
                    <a:pt x="0" y="471551"/>
                  </a:cubicBezTo>
                  <a:close/>
                </a:path>
              </a:pathLst>
            </a:custGeom>
            <a:blipFill>
              <a:blip r:embed="rId6">
                <a:alphaModFix amt="0"/>
              </a:blip>
              <a:stretch>
                <a:fillRect l="-4231" t="0" r="-4237" b="-13"/>
              </a:stretch>
            </a:blipFill>
            <a:ln w="9526" cap="sq">
              <a:solidFill>
                <a:srgbClr val="438951"/>
              </a:solidFill>
              <a:prstDash val="solid"/>
              <a:miter/>
            </a:ln>
          </p:spPr>
        </p:sp>
      </p:grpSp>
      <p:sp>
        <p:nvSpPr>
          <p:cNvPr name="TextBox 17" id="17"/>
          <p:cNvSpPr txBox="true"/>
          <p:nvPr/>
        </p:nvSpPr>
        <p:spPr>
          <a:xfrm rot="0">
            <a:off x="4901956" y="6588023"/>
            <a:ext cx="1873748" cy="448570"/>
          </a:xfrm>
          <a:prstGeom prst="rect">
            <a:avLst/>
          </a:prstGeom>
        </p:spPr>
        <p:txBody>
          <a:bodyPr anchor="t" rtlCol="false" tIns="0" lIns="0" bIns="0" rIns="0">
            <a:spAutoFit/>
          </a:bodyPr>
          <a:lstStyle/>
          <a:p>
            <a:pPr algn="l">
              <a:lnSpc>
                <a:spcPts val="2713"/>
              </a:lnSpc>
            </a:pPr>
            <a:r>
              <a:rPr lang="en-US" sz="1700">
                <a:solidFill>
                  <a:srgbClr val="438951"/>
                </a:solidFill>
                <a:latin typeface="Arimo"/>
                <a:ea typeface="Arimo"/>
                <a:cs typeface="Arimo"/>
                <a:sym typeface="Arimo"/>
              </a:rPr>
              <a:t>4 VILLES</a:t>
            </a:r>
          </a:p>
        </p:txBody>
      </p:sp>
      <p:grpSp>
        <p:nvGrpSpPr>
          <p:cNvPr name="Group 18" id="18"/>
          <p:cNvGrpSpPr/>
          <p:nvPr/>
        </p:nvGrpSpPr>
        <p:grpSpPr>
          <a:xfrm rot="0">
            <a:off x="6177858" y="6574479"/>
            <a:ext cx="2936377" cy="561384"/>
            <a:chOff x="0" y="0"/>
            <a:chExt cx="3915169" cy="748513"/>
          </a:xfrm>
        </p:grpSpPr>
        <p:sp>
          <p:nvSpPr>
            <p:cNvPr name="Freeform 19" id="19"/>
            <p:cNvSpPr/>
            <p:nvPr/>
          </p:nvSpPr>
          <p:spPr>
            <a:xfrm flipH="false" flipV="false" rot="0">
              <a:off x="0" y="0"/>
              <a:ext cx="3915156" cy="748411"/>
            </a:xfrm>
            <a:custGeom>
              <a:avLst/>
              <a:gdLst/>
              <a:ahLst/>
              <a:cxnLst/>
              <a:rect r="r" b="b" t="t" l="l"/>
              <a:pathLst>
                <a:path h="748411" w="3915156">
                  <a:moveTo>
                    <a:pt x="0" y="276860"/>
                  </a:moveTo>
                  <a:cubicBezTo>
                    <a:pt x="0" y="123952"/>
                    <a:pt x="123952" y="0"/>
                    <a:pt x="276860" y="0"/>
                  </a:cubicBezTo>
                  <a:lnTo>
                    <a:pt x="3638296" y="0"/>
                  </a:lnTo>
                  <a:cubicBezTo>
                    <a:pt x="3791204" y="0"/>
                    <a:pt x="3915156" y="123952"/>
                    <a:pt x="3915156" y="276860"/>
                  </a:cubicBezTo>
                  <a:lnTo>
                    <a:pt x="3915156" y="471551"/>
                  </a:lnTo>
                  <a:cubicBezTo>
                    <a:pt x="3915156" y="624459"/>
                    <a:pt x="3791204" y="748411"/>
                    <a:pt x="3638296" y="748411"/>
                  </a:cubicBezTo>
                  <a:lnTo>
                    <a:pt x="276860" y="748411"/>
                  </a:lnTo>
                  <a:cubicBezTo>
                    <a:pt x="123952" y="748538"/>
                    <a:pt x="0" y="624586"/>
                    <a:pt x="0" y="471551"/>
                  </a:cubicBezTo>
                  <a:close/>
                </a:path>
              </a:pathLst>
            </a:custGeom>
            <a:blipFill>
              <a:blip r:embed="rId6">
                <a:alphaModFix amt="0"/>
              </a:blip>
              <a:stretch>
                <a:fillRect l="0" t="-51925" r="0" b="-51939"/>
              </a:stretch>
            </a:blipFill>
            <a:ln w="9526" cap="sq">
              <a:solidFill>
                <a:srgbClr val="438951"/>
              </a:solidFill>
              <a:prstDash val="solid"/>
              <a:miter/>
            </a:ln>
          </p:spPr>
        </p:sp>
      </p:grpSp>
      <p:sp>
        <p:nvSpPr>
          <p:cNvPr name="TextBox 20" id="20"/>
          <p:cNvSpPr txBox="true"/>
          <p:nvPr/>
        </p:nvSpPr>
        <p:spPr>
          <a:xfrm rot="0">
            <a:off x="6362252" y="6588023"/>
            <a:ext cx="3481978" cy="448570"/>
          </a:xfrm>
          <a:prstGeom prst="rect">
            <a:avLst/>
          </a:prstGeom>
        </p:spPr>
        <p:txBody>
          <a:bodyPr anchor="t" rtlCol="false" tIns="0" lIns="0" bIns="0" rIns="0">
            <a:spAutoFit/>
          </a:bodyPr>
          <a:lstStyle/>
          <a:p>
            <a:pPr algn="l">
              <a:lnSpc>
                <a:spcPts val="2713"/>
              </a:lnSpc>
            </a:pPr>
            <a:r>
              <a:rPr lang="en-US" sz="1700">
                <a:solidFill>
                  <a:srgbClr val="438951"/>
                </a:solidFill>
                <a:latin typeface="Arimo"/>
                <a:ea typeface="Arimo"/>
                <a:cs typeface="Arimo"/>
                <a:sym typeface="Arimo"/>
              </a:rPr>
              <a:t>INTERFACE WEB FLASK</a:t>
            </a:r>
          </a:p>
        </p:txBody>
      </p:sp>
      <p:sp>
        <p:nvSpPr>
          <p:cNvPr name="TextBox 21" id="21"/>
          <p:cNvSpPr txBox="true"/>
          <p:nvPr/>
        </p:nvSpPr>
        <p:spPr>
          <a:xfrm rot="0">
            <a:off x="17259300" y="9201150"/>
            <a:ext cx="152400" cy="209550"/>
          </a:xfrm>
          <a:prstGeom prst="rect">
            <a:avLst/>
          </a:prstGeom>
        </p:spPr>
        <p:txBody>
          <a:bodyPr anchor="t" rtlCol="false" tIns="0" lIns="0" bIns="0" rIns="0" wrap="none">
            <a:spAutoFit/>
          </a:bodyPr>
          <a:lstStyle/>
          <a:p>
            <a:pPr algn="ctr">
              <a:lnSpc>
                <a:spcPts val="3639"/>
              </a:lnSpc>
              <a:spcBef>
                <a:spcPct val="0"/>
              </a:spcBef>
            </a:pPr>
            <a:r>
              <a:rPr lang="en-US" sz="2599">
                <a:solidFill>
                  <a:srgbClr val="000000"/>
                </a:solidFill>
                <a:latin typeface="Open Sans"/>
                <a:ea typeface="Open Sans"/>
                <a:cs typeface="Open Sans"/>
                <a:sym typeface="Open San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EEE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FFA"/>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7726261" y="1085698"/>
            <a:ext cx="10474966" cy="794147"/>
          </a:xfrm>
          <a:prstGeom prst="rect">
            <a:avLst/>
          </a:prstGeom>
        </p:spPr>
        <p:txBody>
          <a:bodyPr anchor="t" rtlCol="false" tIns="0" lIns="0" bIns="0" rIns="0">
            <a:spAutoFit/>
          </a:bodyPr>
          <a:lstStyle/>
          <a:p>
            <a:pPr algn="l">
              <a:lnSpc>
                <a:spcPts val="5990"/>
              </a:lnSpc>
            </a:pPr>
            <a:r>
              <a:rPr lang="en-US" sz="4800">
                <a:solidFill>
                  <a:srgbClr val="3B4540"/>
                </a:solidFill>
                <a:latin typeface="Fraunces"/>
                <a:ea typeface="Fraunces"/>
                <a:cs typeface="Fraunces"/>
                <a:sym typeface="Fraunces"/>
              </a:rPr>
              <a:t>Introduction &amp; Problématique</a:t>
            </a:r>
          </a:p>
        </p:txBody>
      </p:sp>
      <p:grpSp>
        <p:nvGrpSpPr>
          <p:cNvPr name="Group 9" id="9"/>
          <p:cNvGrpSpPr/>
          <p:nvPr/>
        </p:nvGrpSpPr>
        <p:grpSpPr>
          <a:xfrm rot="0">
            <a:off x="7726261" y="2205333"/>
            <a:ext cx="9693478" cy="1385888"/>
            <a:chOff x="0" y="0"/>
            <a:chExt cx="12924638" cy="1847850"/>
          </a:xfrm>
        </p:grpSpPr>
        <p:sp>
          <p:nvSpPr>
            <p:cNvPr name="Freeform 10" id="10"/>
            <p:cNvSpPr/>
            <p:nvPr/>
          </p:nvSpPr>
          <p:spPr>
            <a:xfrm flipH="false" flipV="false" rot="0">
              <a:off x="0" y="0"/>
              <a:ext cx="12924536" cy="1847850"/>
            </a:xfrm>
            <a:custGeom>
              <a:avLst/>
              <a:gdLst/>
              <a:ahLst/>
              <a:cxnLst/>
              <a:rect r="r" b="b" t="t" l="l"/>
              <a:pathLst>
                <a:path h="1847850" w="12924536">
                  <a:moveTo>
                    <a:pt x="0" y="297688"/>
                  </a:moveTo>
                  <a:cubicBezTo>
                    <a:pt x="0" y="133350"/>
                    <a:pt x="133350" y="0"/>
                    <a:pt x="297688" y="0"/>
                  </a:cubicBezTo>
                  <a:lnTo>
                    <a:pt x="12626848" y="0"/>
                  </a:lnTo>
                  <a:cubicBezTo>
                    <a:pt x="12791313" y="0"/>
                    <a:pt x="12924536" y="133350"/>
                    <a:pt x="12924536" y="297688"/>
                  </a:cubicBezTo>
                  <a:lnTo>
                    <a:pt x="12924536" y="1550162"/>
                  </a:lnTo>
                  <a:cubicBezTo>
                    <a:pt x="12924536" y="1714627"/>
                    <a:pt x="12791186" y="1847850"/>
                    <a:pt x="12626848" y="1847850"/>
                  </a:cubicBezTo>
                  <a:lnTo>
                    <a:pt x="297688" y="1847850"/>
                  </a:lnTo>
                  <a:cubicBezTo>
                    <a:pt x="133350" y="1847850"/>
                    <a:pt x="0" y="1714500"/>
                    <a:pt x="0" y="1550162"/>
                  </a:cubicBezTo>
                  <a:close/>
                </a:path>
              </a:pathLst>
            </a:custGeom>
            <a:solidFill>
              <a:srgbClr val="E8F3E8"/>
            </a:solidFill>
          </p:spPr>
        </p:sp>
      </p:grpSp>
      <p:sp>
        <p:nvSpPr>
          <p:cNvPr name="TextBox 11" id="11"/>
          <p:cNvSpPr txBox="true"/>
          <p:nvPr/>
        </p:nvSpPr>
        <p:spPr>
          <a:xfrm rot="0">
            <a:off x="7974206" y="2453278"/>
            <a:ext cx="3101130" cy="387696"/>
          </a:xfrm>
          <a:prstGeom prst="rect">
            <a:avLst/>
          </a:prstGeom>
        </p:spPr>
        <p:txBody>
          <a:bodyPr anchor="t" rtlCol="false" tIns="0" lIns="0" bIns="0" rIns="0">
            <a:spAutoFit/>
          </a:bodyPr>
          <a:lstStyle/>
          <a:p>
            <a:pPr algn="l">
              <a:lnSpc>
                <a:spcPts val="2995"/>
              </a:lnSpc>
            </a:pPr>
            <a:r>
              <a:rPr lang="en-US" sz="2400">
                <a:solidFill>
                  <a:srgbClr val="405449"/>
                </a:solidFill>
                <a:latin typeface="Fraunces"/>
                <a:ea typeface="Fraunces"/>
                <a:cs typeface="Fraunces"/>
                <a:sym typeface="Fraunces"/>
              </a:rPr>
              <a:t>La Question</a:t>
            </a:r>
          </a:p>
        </p:txBody>
      </p:sp>
      <p:sp>
        <p:nvSpPr>
          <p:cNvPr name="TextBox 12" id="12"/>
          <p:cNvSpPr txBox="true"/>
          <p:nvPr/>
        </p:nvSpPr>
        <p:spPr>
          <a:xfrm rot="0">
            <a:off x="7974206" y="2904525"/>
            <a:ext cx="9197578" cy="438741"/>
          </a:xfrm>
          <a:prstGeom prst="rect">
            <a:avLst/>
          </a:prstGeom>
        </p:spPr>
        <p:txBody>
          <a:bodyPr anchor="t" rtlCol="false" tIns="0" lIns="0" bIns="0" rIns="0">
            <a:spAutoFit/>
          </a:bodyPr>
          <a:lstStyle/>
          <a:p>
            <a:pPr algn="l">
              <a:lnSpc>
                <a:spcPts val="2850"/>
              </a:lnSpc>
            </a:pPr>
            <a:r>
              <a:rPr lang="en-US" sz="1900">
                <a:solidFill>
                  <a:srgbClr val="405449"/>
                </a:solidFill>
                <a:latin typeface="Arimo"/>
                <a:ea typeface="Arimo"/>
                <a:cs typeface="Arimo"/>
                <a:sym typeface="Arimo"/>
              </a:rPr>
              <a:t>Est-ce qu'il va pleuvoir </a:t>
            </a:r>
            <a:r>
              <a:rPr lang="en-US" sz="1900" b="true">
                <a:solidFill>
                  <a:srgbClr val="405449"/>
                </a:solidFill>
                <a:latin typeface="Arimo Bold"/>
                <a:ea typeface="Arimo Bold"/>
                <a:cs typeface="Arimo Bold"/>
                <a:sym typeface="Arimo Bold"/>
              </a:rPr>
              <a:t>demain</a:t>
            </a:r>
            <a:r>
              <a:rPr lang="en-US" sz="1900">
                <a:solidFill>
                  <a:srgbClr val="405449"/>
                </a:solidFill>
                <a:latin typeface="Arimo"/>
                <a:ea typeface="Arimo"/>
                <a:cs typeface="Arimo"/>
                <a:sym typeface="Arimo"/>
              </a:rPr>
              <a:t> en Tunisie ?</a:t>
            </a:r>
          </a:p>
        </p:txBody>
      </p:sp>
      <p:grpSp>
        <p:nvGrpSpPr>
          <p:cNvPr name="Group 13" id="13"/>
          <p:cNvGrpSpPr/>
          <p:nvPr/>
        </p:nvGrpSpPr>
        <p:grpSpPr>
          <a:xfrm rot="0">
            <a:off x="7726261" y="3808209"/>
            <a:ext cx="9693478" cy="1757963"/>
            <a:chOff x="0" y="0"/>
            <a:chExt cx="12924638" cy="2343950"/>
          </a:xfrm>
        </p:grpSpPr>
        <p:sp>
          <p:nvSpPr>
            <p:cNvPr name="Freeform 14" id="14"/>
            <p:cNvSpPr/>
            <p:nvPr/>
          </p:nvSpPr>
          <p:spPr>
            <a:xfrm flipH="false" flipV="false" rot="0">
              <a:off x="0" y="0"/>
              <a:ext cx="12924536" cy="2343912"/>
            </a:xfrm>
            <a:custGeom>
              <a:avLst/>
              <a:gdLst/>
              <a:ahLst/>
              <a:cxnLst/>
              <a:rect r="r" b="b" t="t" l="l"/>
              <a:pathLst>
                <a:path h="2343912" w="12924536">
                  <a:moveTo>
                    <a:pt x="0" y="297688"/>
                  </a:moveTo>
                  <a:cubicBezTo>
                    <a:pt x="0" y="133350"/>
                    <a:pt x="133350" y="0"/>
                    <a:pt x="297688" y="0"/>
                  </a:cubicBezTo>
                  <a:lnTo>
                    <a:pt x="12626848" y="0"/>
                  </a:lnTo>
                  <a:cubicBezTo>
                    <a:pt x="12791313" y="0"/>
                    <a:pt x="12924536" y="133350"/>
                    <a:pt x="12924536" y="297688"/>
                  </a:cubicBezTo>
                  <a:lnTo>
                    <a:pt x="12924536" y="2046224"/>
                  </a:lnTo>
                  <a:cubicBezTo>
                    <a:pt x="12924536" y="2210689"/>
                    <a:pt x="12791186" y="2343912"/>
                    <a:pt x="12626848" y="2343912"/>
                  </a:cubicBezTo>
                  <a:lnTo>
                    <a:pt x="297688" y="2343912"/>
                  </a:lnTo>
                  <a:cubicBezTo>
                    <a:pt x="133350" y="2343912"/>
                    <a:pt x="0" y="2210689"/>
                    <a:pt x="0" y="2046224"/>
                  </a:cubicBezTo>
                  <a:close/>
                </a:path>
              </a:pathLst>
            </a:custGeom>
            <a:solidFill>
              <a:srgbClr val="E8F3E8"/>
            </a:solidFill>
          </p:spPr>
        </p:sp>
      </p:grpSp>
      <p:sp>
        <p:nvSpPr>
          <p:cNvPr name="TextBox 15" id="15"/>
          <p:cNvSpPr txBox="true"/>
          <p:nvPr/>
        </p:nvSpPr>
        <p:spPr>
          <a:xfrm rot="0">
            <a:off x="7974206" y="4056164"/>
            <a:ext cx="3210820" cy="387696"/>
          </a:xfrm>
          <a:prstGeom prst="rect">
            <a:avLst/>
          </a:prstGeom>
        </p:spPr>
        <p:txBody>
          <a:bodyPr anchor="t" rtlCol="false" tIns="0" lIns="0" bIns="0" rIns="0">
            <a:spAutoFit/>
          </a:bodyPr>
          <a:lstStyle/>
          <a:p>
            <a:pPr algn="l">
              <a:lnSpc>
                <a:spcPts val="2995"/>
              </a:lnSpc>
            </a:pPr>
            <a:r>
              <a:rPr lang="en-US" sz="2400">
                <a:solidFill>
                  <a:srgbClr val="405449"/>
                </a:solidFill>
                <a:latin typeface="Fraunces"/>
                <a:ea typeface="Fraunces"/>
                <a:cs typeface="Fraunces"/>
                <a:sym typeface="Fraunces"/>
              </a:rPr>
              <a:t>Contexte Climatique</a:t>
            </a:r>
          </a:p>
        </p:txBody>
      </p:sp>
      <p:sp>
        <p:nvSpPr>
          <p:cNvPr name="TextBox 16" id="16"/>
          <p:cNvSpPr txBox="true"/>
          <p:nvPr/>
        </p:nvSpPr>
        <p:spPr>
          <a:xfrm rot="0">
            <a:off x="7974206" y="4507411"/>
            <a:ext cx="9197578" cy="810816"/>
          </a:xfrm>
          <a:prstGeom prst="rect">
            <a:avLst/>
          </a:prstGeom>
        </p:spPr>
        <p:txBody>
          <a:bodyPr anchor="t" rtlCol="false" tIns="0" lIns="0" bIns="0" rIns="0">
            <a:spAutoFit/>
          </a:bodyPr>
          <a:lstStyle/>
          <a:p>
            <a:pPr algn="l">
              <a:lnSpc>
                <a:spcPts val="2850"/>
              </a:lnSpc>
            </a:pPr>
            <a:r>
              <a:rPr lang="en-US" sz="1900">
                <a:solidFill>
                  <a:srgbClr val="405449"/>
                </a:solidFill>
                <a:latin typeface="Arimo"/>
                <a:ea typeface="Arimo"/>
                <a:cs typeface="Arimo"/>
                <a:sym typeface="Arimo"/>
              </a:rPr>
              <a:t>Diversité remarquable : de Bizerte (méditerranéen humide) à Sfax (semi-aride).</a:t>
            </a:r>
          </a:p>
        </p:txBody>
      </p:sp>
      <p:grpSp>
        <p:nvGrpSpPr>
          <p:cNvPr name="Group 17" id="17"/>
          <p:cNvGrpSpPr/>
          <p:nvPr/>
        </p:nvGrpSpPr>
        <p:grpSpPr>
          <a:xfrm rot="0">
            <a:off x="7726261" y="5783161"/>
            <a:ext cx="9693478" cy="1796063"/>
            <a:chOff x="0" y="0"/>
            <a:chExt cx="12924638" cy="2394750"/>
          </a:xfrm>
        </p:grpSpPr>
        <p:sp>
          <p:nvSpPr>
            <p:cNvPr name="Freeform 18" id="18"/>
            <p:cNvSpPr/>
            <p:nvPr/>
          </p:nvSpPr>
          <p:spPr>
            <a:xfrm flipH="false" flipV="false" rot="0">
              <a:off x="0" y="0"/>
              <a:ext cx="12924536" cy="2394712"/>
            </a:xfrm>
            <a:custGeom>
              <a:avLst/>
              <a:gdLst/>
              <a:ahLst/>
              <a:cxnLst/>
              <a:rect r="r" b="b" t="t" l="l"/>
              <a:pathLst>
                <a:path h="2394712" w="12924536">
                  <a:moveTo>
                    <a:pt x="0" y="297688"/>
                  </a:moveTo>
                  <a:cubicBezTo>
                    <a:pt x="0" y="133350"/>
                    <a:pt x="133350" y="0"/>
                    <a:pt x="297688" y="0"/>
                  </a:cubicBezTo>
                  <a:lnTo>
                    <a:pt x="12626848" y="0"/>
                  </a:lnTo>
                  <a:cubicBezTo>
                    <a:pt x="12791313" y="0"/>
                    <a:pt x="12924536" y="133350"/>
                    <a:pt x="12924536" y="297688"/>
                  </a:cubicBezTo>
                  <a:lnTo>
                    <a:pt x="12924536" y="2097024"/>
                  </a:lnTo>
                  <a:cubicBezTo>
                    <a:pt x="12924536" y="2261489"/>
                    <a:pt x="12791186" y="2394712"/>
                    <a:pt x="12626848" y="2394712"/>
                  </a:cubicBezTo>
                  <a:lnTo>
                    <a:pt x="297688" y="2394712"/>
                  </a:lnTo>
                  <a:cubicBezTo>
                    <a:pt x="133350" y="2394712"/>
                    <a:pt x="0" y="2261489"/>
                    <a:pt x="0" y="2097024"/>
                  </a:cubicBezTo>
                  <a:close/>
                </a:path>
              </a:pathLst>
            </a:custGeom>
            <a:solidFill>
              <a:srgbClr val="E8F3E8"/>
            </a:solidFill>
          </p:spPr>
        </p:sp>
      </p:grpSp>
      <p:sp>
        <p:nvSpPr>
          <p:cNvPr name="TextBox 19" id="19"/>
          <p:cNvSpPr txBox="true"/>
          <p:nvPr/>
        </p:nvSpPr>
        <p:spPr>
          <a:xfrm rot="0">
            <a:off x="7974206" y="6031106"/>
            <a:ext cx="3101130" cy="387696"/>
          </a:xfrm>
          <a:prstGeom prst="rect">
            <a:avLst/>
          </a:prstGeom>
        </p:spPr>
        <p:txBody>
          <a:bodyPr anchor="t" rtlCol="false" tIns="0" lIns="0" bIns="0" rIns="0">
            <a:spAutoFit/>
          </a:bodyPr>
          <a:lstStyle/>
          <a:p>
            <a:pPr algn="l">
              <a:lnSpc>
                <a:spcPts val="2995"/>
              </a:lnSpc>
            </a:pPr>
            <a:r>
              <a:rPr lang="en-US" sz="2400">
                <a:solidFill>
                  <a:srgbClr val="405449"/>
                </a:solidFill>
                <a:latin typeface="Fraunces"/>
                <a:ea typeface="Fraunces"/>
                <a:cs typeface="Fraunces"/>
                <a:sym typeface="Fraunces"/>
              </a:rPr>
              <a:t>Dataset</a:t>
            </a:r>
          </a:p>
        </p:txBody>
      </p:sp>
      <p:sp>
        <p:nvSpPr>
          <p:cNvPr name="TextBox 20" id="20"/>
          <p:cNvSpPr txBox="true"/>
          <p:nvPr/>
        </p:nvSpPr>
        <p:spPr>
          <a:xfrm rot="0">
            <a:off x="7974206" y="6482353"/>
            <a:ext cx="9197578" cy="848916"/>
          </a:xfrm>
          <a:prstGeom prst="rect">
            <a:avLst/>
          </a:prstGeom>
        </p:spPr>
        <p:txBody>
          <a:bodyPr anchor="t" rtlCol="false" tIns="0" lIns="0" bIns="0" rIns="0">
            <a:spAutoFit/>
          </a:bodyPr>
          <a:lstStyle/>
          <a:p>
            <a:pPr algn="l">
              <a:lnSpc>
                <a:spcPts val="2850"/>
              </a:lnSpc>
            </a:pPr>
            <a:r>
              <a:rPr lang="en-US" sz="1900" b="true">
                <a:solidFill>
                  <a:srgbClr val="405449"/>
                </a:solidFill>
                <a:latin typeface="Arimo Bold"/>
                <a:ea typeface="Arimo Bold"/>
                <a:cs typeface="Arimo Bold"/>
                <a:sym typeface="Arimo Bold"/>
              </a:rPr>
              <a:t>23 978 observations</a:t>
            </a:r>
            <a:r>
              <a:rPr lang="en-US" sz="1900">
                <a:solidFill>
                  <a:srgbClr val="405449"/>
                </a:solidFill>
                <a:latin typeface="Arimo"/>
                <a:ea typeface="Arimo"/>
                <a:cs typeface="Arimo"/>
                <a:sym typeface="Arimo"/>
              </a:rPr>
              <a:t> — 2009 à 2026, 4 villes. Variable cible : pluie_demain_bin = 1 si précipitations &gt; 1,0 mm.</a:t>
            </a:r>
          </a:p>
        </p:txBody>
      </p:sp>
      <p:grpSp>
        <p:nvGrpSpPr>
          <p:cNvPr name="Group 21" id="21"/>
          <p:cNvGrpSpPr/>
          <p:nvPr/>
        </p:nvGrpSpPr>
        <p:grpSpPr>
          <a:xfrm rot="0">
            <a:off x="7726261" y="7796212"/>
            <a:ext cx="9693478" cy="1385888"/>
            <a:chOff x="0" y="0"/>
            <a:chExt cx="12924638" cy="1847850"/>
          </a:xfrm>
        </p:grpSpPr>
        <p:sp>
          <p:nvSpPr>
            <p:cNvPr name="Freeform 22" id="22"/>
            <p:cNvSpPr/>
            <p:nvPr/>
          </p:nvSpPr>
          <p:spPr>
            <a:xfrm flipH="false" flipV="false" rot="0">
              <a:off x="0" y="0"/>
              <a:ext cx="12924536" cy="1847850"/>
            </a:xfrm>
            <a:custGeom>
              <a:avLst/>
              <a:gdLst/>
              <a:ahLst/>
              <a:cxnLst/>
              <a:rect r="r" b="b" t="t" l="l"/>
              <a:pathLst>
                <a:path h="1847850" w="12924536">
                  <a:moveTo>
                    <a:pt x="0" y="297688"/>
                  </a:moveTo>
                  <a:cubicBezTo>
                    <a:pt x="0" y="133350"/>
                    <a:pt x="133350" y="0"/>
                    <a:pt x="297688" y="0"/>
                  </a:cubicBezTo>
                  <a:lnTo>
                    <a:pt x="12626848" y="0"/>
                  </a:lnTo>
                  <a:cubicBezTo>
                    <a:pt x="12791313" y="0"/>
                    <a:pt x="12924536" y="133350"/>
                    <a:pt x="12924536" y="297688"/>
                  </a:cubicBezTo>
                  <a:lnTo>
                    <a:pt x="12924536" y="1550162"/>
                  </a:lnTo>
                  <a:cubicBezTo>
                    <a:pt x="12924536" y="1714627"/>
                    <a:pt x="12791186" y="1847850"/>
                    <a:pt x="12626848" y="1847850"/>
                  </a:cubicBezTo>
                  <a:lnTo>
                    <a:pt x="297688" y="1847850"/>
                  </a:lnTo>
                  <a:cubicBezTo>
                    <a:pt x="133350" y="1847850"/>
                    <a:pt x="0" y="1714500"/>
                    <a:pt x="0" y="1550162"/>
                  </a:cubicBezTo>
                  <a:close/>
                </a:path>
              </a:pathLst>
            </a:custGeom>
            <a:solidFill>
              <a:srgbClr val="E8F3E8"/>
            </a:solidFill>
          </p:spPr>
        </p:sp>
      </p:grpSp>
      <p:sp>
        <p:nvSpPr>
          <p:cNvPr name="TextBox 23" id="23"/>
          <p:cNvSpPr txBox="true"/>
          <p:nvPr/>
        </p:nvSpPr>
        <p:spPr>
          <a:xfrm rot="0">
            <a:off x="7974206" y="8044158"/>
            <a:ext cx="3101130" cy="387696"/>
          </a:xfrm>
          <a:prstGeom prst="rect">
            <a:avLst/>
          </a:prstGeom>
        </p:spPr>
        <p:txBody>
          <a:bodyPr anchor="t" rtlCol="false" tIns="0" lIns="0" bIns="0" rIns="0">
            <a:spAutoFit/>
          </a:bodyPr>
          <a:lstStyle/>
          <a:p>
            <a:pPr algn="l">
              <a:lnSpc>
                <a:spcPts val="2995"/>
              </a:lnSpc>
            </a:pPr>
            <a:r>
              <a:rPr lang="en-US" sz="2400">
                <a:solidFill>
                  <a:srgbClr val="405449"/>
                </a:solidFill>
                <a:latin typeface="Fraunces"/>
                <a:ea typeface="Fraunces"/>
                <a:cs typeface="Fraunces"/>
                <a:sym typeface="Fraunces"/>
              </a:rPr>
              <a:t>Livrable</a:t>
            </a:r>
          </a:p>
        </p:txBody>
      </p:sp>
      <p:sp>
        <p:nvSpPr>
          <p:cNvPr name="TextBox 24" id="24"/>
          <p:cNvSpPr txBox="true"/>
          <p:nvPr/>
        </p:nvSpPr>
        <p:spPr>
          <a:xfrm rot="0">
            <a:off x="7974206" y="8495405"/>
            <a:ext cx="9197578" cy="438741"/>
          </a:xfrm>
          <a:prstGeom prst="rect">
            <a:avLst/>
          </a:prstGeom>
        </p:spPr>
        <p:txBody>
          <a:bodyPr anchor="t" rtlCol="false" tIns="0" lIns="0" bIns="0" rIns="0">
            <a:spAutoFit/>
          </a:bodyPr>
          <a:lstStyle/>
          <a:p>
            <a:pPr algn="l">
              <a:lnSpc>
                <a:spcPts val="2850"/>
              </a:lnSpc>
            </a:pPr>
            <a:r>
              <a:rPr lang="en-US" sz="1900">
                <a:solidFill>
                  <a:srgbClr val="405449"/>
                </a:solidFill>
                <a:latin typeface="Arimo"/>
                <a:ea typeface="Arimo"/>
                <a:cs typeface="Arimo"/>
                <a:sym typeface="Arimo"/>
              </a:rPr>
              <a:t>Interface web Flask interactive avec prédiction animée en temps réel.</a:t>
            </a:r>
          </a:p>
        </p:txBody>
      </p:sp>
      <p:sp>
        <p:nvSpPr>
          <p:cNvPr name="TextBox 25" id="25"/>
          <p:cNvSpPr txBox="true"/>
          <p:nvPr/>
        </p:nvSpPr>
        <p:spPr>
          <a:xfrm rot="0">
            <a:off x="17259300" y="9201150"/>
            <a:ext cx="152400" cy="209550"/>
          </a:xfrm>
          <a:prstGeom prst="rect">
            <a:avLst/>
          </a:prstGeom>
        </p:spPr>
        <p:txBody>
          <a:bodyPr anchor="t" rtlCol="false" tIns="0" lIns="0" bIns="0" rIns="0" wrap="none">
            <a:spAutoFit/>
          </a:bodyPr>
          <a:lstStyle/>
          <a:p>
            <a:pPr algn="ctr">
              <a:lnSpc>
                <a:spcPts val="3639"/>
              </a:lnSpc>
              <a:spcBef>
                <a:spcPct val="0"/>
              </a:spcBef>
            </a:pPr>
            <a:r>
              <a:rPr lang="en-US" sz="2599">
                <a:solidFill>
                  <a:srgbClr val="000000"/>
                </a:solidFill>
                <a:latin typeface="Open Sans"/>
                <a:ea typeface="Open Sans"/>
                <a:cs typeface="Open Sans"/>
                <a:sym typeface="Open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EEE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FFA"/>
            </a:solidFill>
          </p:spPr>
        </p:sp>
      </p:grpSp>
      <p:sp>
        <p:nvSpPr>
          <p:cNvPr name="TextBox 6" id="6"/>
          <p:cNvSpPr txBox="true"/>
          <p:nvPr/>
        </p:nvSpPr>
        <p:spPr>
          <a:xfrm rot="0">
            <a:off x="852783" y="642937"/>
            <a:ext cx="7005933" cy="789975"/>
          </a:xfrm>
          <a:prstGeom prst="rect">
            <a:avLst/>
          </a:prstGeom>
        </p:spPr>
        <p:txBody>
          <a:bodyPr anchor="t" rtlCol="false" tIns="0" lIns="0" bIns="0" rIns="0">
            <a:spAutoFit/>
          </a:bodyPr>
          <a:lstStyle/>
          <a:p>
            <a:pPr algn="l">
              <a:lnSpc>
                <a:spcPts val="5865"/>
              </a:lnSpc>
            </a:pPr>
            <a:r>
              <a:rPr lang="en-US" sz="4700">
                <a:solidFill>
                  <a:srgbClr val="3B4540"/>
                </a:solidFill>
                <a:latin typeface="Fraunces"/>
                <a:ea typeface="Fraunces"/>
                <a:cs typeface="Fraunces"/>
                <a:sym typeface="Fraunces"/>
              </a:rPr>
              <a:t>Le Dataset</a:t>
            </a:r>
          </a:p>
        </p:txBody>
      </p:sp>
      <p:grpSp>
        <p:nvGrpSpPr>
          <p:cNvPr name="Group 7" id="7"/>
          <p:cNvGrpSpPr/>
          <p:nvPr/>
        </p:nvGrpSpPr>
        <p:grpSpPr>
          <a:xfrm rot="0">
            <a:off x="852783" y="1982391"/>
            <a:ext cx="5932732" cy="3361877"/>
            <a:chOff x="0" y="0"/>
            <a:chExt cx="7910309" cy="4482503"/>
          </a:xfrm>
        </p:grpSpPr>
        <p:sp>
          <p:nvSpPr>
            <p:cNvPr name="Freeform 8" id="8" descr="preencoded.png"/>
            <p:cNvSpPr/>
            <p:nvPr/>
          </p:nvSpPr>
          <p:spPr>
            <a:xfrm flipH="false" flipV="false" rot="0">
              <a:off x="0" y="0"/>
              <a:ext cx="7910322" cy="4482465"/>
            </a:xfrm>
            <a:custGeom>
              <a:avLst/>
              <a:gdLst/>
              <a:ahLst/>
              <a:cxnLst/>
              <a:rect r="r" b="b" t="t" l="l"/>
              <a:pathLst>
                <a:path h="4482465" w="7910322">
                  <a:moveTo>
                    <a:pt x="0" y="0"/>
                  </a:moveTo>
                  <a:lnTo>
                    <a:pt x="7910322" y="0"/>
                  </a:lnTo>
                  <a:lnTo>
                    <a:pt x="7910322" y="4482465"/>
                  </a:lnTo>
                  <a:lnTo>
                    <a:pt x="0" y="4482465"/>
                  </a:lnTo>
                  <a:lnTo>
                    <a:pt x="0" y="0"/>
                  </a:lnTo>
                  <a:close/>
                </a:path>
              </a:pathLst>
            </a:custGeom>
            <a:blipFill>
              <a:blip r:embed="rId3"/>
              <a:stretch>
                <a:fillRect l="-4" t="0" r="-4" b="0"/>
              </a:stretch>
            </a:blipFill>
          </p:spPr>
        </p:sp>
      </p:grpSp>
      <p:grpSp>
        <p:nvGrpSpPr>
          <p:cNvPr name="Group 9" id="9"/>
          <p:cNvGrpSpPr/>
          <p:nvPr/>
        </p:nvGrpSpPr>
        <p:grpSpPr>
          <a:xfrm rot="0">
            <a:off x="7389466" y="2829516"/>
            <a:ext cx="10055123" cy="1667466"/>
            <a:chOff x="0" y="0"/>
            <a:chExt cx="13406831" cy="2223287"/>
          </a:xfrm>
        </p:grpSpPr>
        <p:sp>
          <p:nvSpPr>
            <p:cNvPr name="Freeform 10" id="10"/>
            <p:cNvSpPr/>
            <p:nvPr/>
          </p:nvSpPr>
          <p:spPr>
            <a:xfrm flipH="false" flipV="false" rot="0">
              <a:off x="0" y="0"/>
              <a:ext cx="13406755" cy="2223262"/>
            </a:xfrm>
            <a:custGeom>
              <a:avLst/>
              <a:gdLst/>
              <a:ahLst/>
              <a:cxnLst/>
              <a:rect r="r" b="b" t="t" l="l"/>
              <a:pathLst>
                <a:path h="2223262" w="13406755">
                  <a:moveTo>
                    <a:pt x="0" y="292354"/>
                  </a:moveTo>
                  <a:cubicBezTo>
                    <a:pt x="0" y="130937"/>
                    <a:pt x="130937" y="0"/>
                    <a:pt x="292354" y="0"/>
                  </a:cubicBezTo>
                  <a:lnTo>
                    <a:pt x="13114401" y="0"/>
                  </a:lnTo>
                  <a:cubicBezTo>
                    <a:pt x="13275818" y="0"/>
                    <a:pt x="13406755" y="130937"/>
                    <a:pt x="13406755" y="292354"/>
                  </a:cubicBezTo>
                  <a:lnTo>
                    <a:pt x="13406755" y="1930908"/>
                  </a:lnTo>
                  <a:cubicBezTo>
                    <a:pt x="13406755" y="2092325"/>
                    <a:pt x="13275818" y="2223262"/>
                    <a:pt x="13114401" y="2223262"/>
                  </a:cubicBezTo>
                  <a:lnTo>
                    <a:pt x="292354" y="2223262"/>
                  </a:lnTo>
                  <a:cubicBezTo>
                    <a:pt x="130937" y="2223262"/>
                    <a:pt x="0" y="2092325"/>
                    <a:pt x="0" y="1930908"/>
                  </a:cubicBezTo>
                  <a:close/>
                </a:path>
              </a:pathLst>
            </a:custGeom>
            <a:solidFill>
              <a:srgbClr val="B6D6FC"/>
            </a:solidFill>
          </p:spPr>
        </p:sp>
      </p:grpSp>
      <p:grpSp>
        <p:nvGrpSpPr>
          <p:cNvPr name="Group 11" id="11"/>
          <p:cNvGrpSpPr/>
          <p:nvPr/>
        </p:nvGrpSpPr>
        <p:grpSpPr>
          <a:xfrm rot="0">
            <a:off x="7633097" y="3168406"/>
            <a:ext cx="304505" cy="243630"/>
            <a:chOff x="0" y="0"/>
            <a:chExt cx="406006" cy="324841"/>
          </a:xfrm>
        </p:grpSpPr>
        <p:sp>
          <p:nvSpPr>
            <p:cNvPr name="Freeform 12" id="12" descr="preencoded.png"/>
            <p:cNvSpPr/>
            <p:nvPr/>
          </p:nvSpPr>
          <p:spPr>
            <a:xfrm flipH="false" flipV="false" rot="0">
              <a:off x="0" y="0"/>
              <a:ext cx="406019" cy="324866"/>
            </a:xfrm>
            <a:custGeom>
              <a:avLst/>
              <a:gdLst/>
              <a:ahLst/>
              <a:cxnLst/>
              <a:rect r="r" b="b" t="t" l="l"/>
              <a:pathLst>
                <a:path h="324866" w="406019">
                  <a:moveTo>
                    <a:pt x="0" y="0"/>
                  </a:moveTo>
                  <a:lnTo>
                    <a:pt x="406019" y="0"/>
                  </a:lnTo>
                  <a:lnTo>
                    <a:pt x="406019" y="324866"/>
                  </a:lnTo>
                  <a:lnTo>
                    <a:pt x="0" y="324866"/>
                  </a:lnTo>
                  <a:lnTo>
                    <a:pt x="0" y="0"/>
                  </a:lnTo>
                  <a:close/>
                </a:path>
              </a:pathLst>
            </a:custGeom>
            <a:blipFill>
              <a:blip r:embed="rId4"/>
              <a:stretch>
                <a:fillRect l="0" t="-774" r="3" b="-770"/>
              </a:stretch>
            </a:blipFill>
          </p:spPr>
        </p:sp>
      </p:grpSp>
      <p:sp>
        <p:nvSpPr>
          <p:cNvPr name="TextBox 13" id="13"/>
          <p:cNvSpPr txBox="true"/>
          <p:nvPr/>
        </p:nvSpPr>
        <p:spPr>
          <a:xfrm rot="0">
            <a:off x="8181232" y="3032970"/>
            <a:ext cx="9019727" cy="1153868"/>
          </a:xfrm>
          <a:prstGeom prst="rect">
            <a:avLst/>
          </a:prstGeom>
        </p:spPr>
        <p:txBody>
          <a:bodyPr anchor="t" rtlCol="false" tIns="0" lIns="0" bIns="0" rIns="0">
            <a:spAutoFit/>
          </a:bodyPr>
          <a:lstStyle/>
          <a:p>
            <a:pPr algn="l">
              <a:lnSpc>
                <a:spcPts val="2827"/>
              </a:lnSpc>
            </a:pPr>
            <a:r>
              <a:rPr lang="en-US" sz="1900" b="true">
                <a:solidFill>
                  <a:srgbClr val="000000"/>
                </a:solidFill>
                <a:latin typeface="Arimo Bold"/>
                <a:ea typeface="Arimo Bold"/>
                <a:cs typeface="Arimo Bold"/>
                <a:sym typeface="Arimo Bold"/>
              </a:rPr>
              <a:t>Source :</a:t>
            </a:r>
            <a:r>
              <a:rPr lang="en-US" sz="1900">
                <a:solidFill>
                  <a:srgbClr val="000000"/>
                </a:solidFill>
                <a:latin typeface="Arimo"/>
                <a:ea typeface="Arimo"/>
                <a:cs typeface="Arimo"/>
                <a:sym typeface="Arimo"/>
              </a:rPr>
              <a:t> Open-Meteo Historical Weather API </a:t>
            </a:r>
            <a:r>
              <a:rPr lang="en-US" sz="1900" b="true">
                <a:solidFill>
                  <a:srgbClr val="000000"/>
                </a:solidFill>
                <a:latin typeface="Arimo Bold"/>
                <a:ea typeface="Arimo Bold"/>
                <a:cs typeface="Arimo Bold"/>
                <a:sym typeface="Arimo Bold"/>
              </a:rPr>
              <a:t>Modèle météo :</a:t>
            </a:r>
            <a:r>
              <a:rPr lang="en-US" sz="1900">
                <a:solidFill>
                  <a:srgbClr val="000000"/>
                </a:solidFill>
                <a:latin typeface="Arimo"/>
                <a:ea typeface="Arimo"/>
                <a:cs typeface="Arimo"/>
                <a:sym typeface="Arimo"/>
              </a:rPr>
              <a:t> ERA5-Land (ECMWF) — réanalyse satellite, résolution 9 km </a:t>
            </a:r>
            <a:r>
              <a:rPr lang="en-US" sz="1900" b="true">
                <a:solidFill>
                  <a:srgbClr val="000000"/>
                </a:solidFill>
                <a:latin typeface="Arimo Bold"/>
                <a:ea typeface="Arimo Bold"/>
                <a:cs typeface="Arimo Bold"/>
                <a:sym typeface="Arimo Bold"/>
              </a:rPr>
              <a:t>Accès :</a:t>
            </a:r>
            <a:r>
              <a:rPr lang="en-US" sz="1900">
                <a:solidFill>
                  <a:srgbClr val="000000"/>
                </a:solidFill>
                <a:latin typeface="Arimo"/>
                <a:ea typeface="Arimo"/>
                <a:cs typeface="Arimo"/>
                <a:sym typeface="Arimo"/>
              </a:rPr>
              <a:t> Gratuit, sans inscription, via requête HTTP GET</a:t>
            </a:r>
          </a:p>
        </p:txBody>
      </p:sp>
      <p:grpSp>
        <p:nvGrpSpPr>
          <p:cNvPr name="Group 14" id="14"/>
          <p:cNvGrpSpPr/>
          <p:nvPr/>
        </p:nvGrpSpPr>
        <p:grpSpPr>
          <a:xfrm rot="0">
            <a:off x="852783" y="5876030"/>
            <a:ext cx="16582434" cy="18155"/>
            <a:chOff x="0" y="0"/>
            <a:chExt cx="22109913" cy="24206"/>
          </a:xfrm>
        </p:grpSpPr>
        <p:sp>
          <p:nvSpPr>
            <p:cNvPr name="Freeform 15" id="15"/>
            <p:cNvSpPr/>
            <p:nvPr/>
          </p:nvSpPr>
          <p:spPr>
            <a:xfrm flipH="false" flipV="false" rot="0">
              <a:off x="0" y="0"/>
              <a:ext cx="22109937" cy="24257"/>
            </a:xfrm>
            <a:custGeom>
              <a:avLst/>
              <a:gdLst/>
              <a:ahLst/>
              <a:cxnLst/>
              <a:rect r="r" b="b" t="t" l="l"/>
              <a:pathLst>
                <a:path h="24257" w="22109937">
                  <a:moveTo>
                    <a:pt x="0" y="0"/>
                  </a:moveTo>
                  <a:lnTo>
                    <a:pt x="22109937" y="0"/>
                  </a:lnTo>
                  <a:lnTo>
                    <a:pt x="22109937" y="24257"/>
                  </a:lnTo>
                  <a:lnTo>
                    <a:pt x="0" y="24257"/>
                  </a:lnTo>
                  <a:close/>
                </a:path>
              </a:pathLst>
            </a:custGeom>
            <a:solidFill>
              <a:srgbClr val="405449">
                <a:alpha val="24706"/>
              </a:srgbClr>
            </a:solidFill>
          </p:spPr>
        </p:sp>
      </p:grpSp>
      <p:sp>
        <p:nvSpPr>
          <p:cNvPr name="TextBox 16" id="16"/>
          <p:cNvSpPr txBox="true"/>
          <p:nvPr/>
        </p:nvSpPr>
        <p:spPr>
          <a:xfrm rot="0">
            <a:off x="852783" y="6390237"/>
            <a:ext cx="5404399" cy="390230"/>
          </a:xfrm>
          <a:prstGeom prst="rect">
            <a:avLst/>
          </a:prstGeom>
        </p:spPr>
        <p:txBody>
          <a:bodyPr anchor="t" rtlCol="false" tIns="0" lIns="0" bIns="0" rIns="0">
            <a:spAutoFit/>
          </a:bodyPr>
          <a:lstStyle/>
          <a:p>
            <a:pPr algn="l">
              <a:lnSpc>
                <a:spcPts val="2870"/>
              </a:lnSpc>
            </a:pPr>
            <a:r>
              <a:rPr lang="en-US" sz="2300">
                <a:solidFill>
                  <a:srgbClr val="3B4540"/>
                </a:solidFill>
                <a:latin typeface="Fraunces"/>
                <a:ea typeface="Fraunces"/>
                <a:cs typeface="Fraunces"/>
                <a:sym typeface="Fraunces"/>
              </a:rPr>
              <a:t>4 Villes &amp; Profils Climatiques</a:t>
            </a:r>
          </a:p>
        </p:txBody>
      </p:sp>
      <p:sp>
        <p:nvSpPr>
          <p:cNvPr name="TextBox 17" id="17"/>
          <p:cNvSpPr txBox="true"/>
          <p:nvPr/>
        </p:nvSpPr>
        <p:spPr>
          <a:xfrm rot="0">
            <a:off x="852783" y="6923037"/>
            <a:ext cx="7994009" cy="1735931"/>
          </a:xfrm>
          <a:prstGeom prst="rect">
            <a:avLst/>
          </a:prstGeom>
        </p:spPr>
        <p:txBody>
          <a:bodyPr anchor="t" rtlCol="false" tIns="0" lIns="0" bIns="0" rIns="0">
            <a:spAutoFit/>
          </a:bodyPr>
          <a:lstStyle/>
          <a:p>
            <a:pPr algn="l" marL="458470" indent="-229235" lvl="1">
              <a:lnSpc>
                <a:spcPts val="2827"/>
              </a:lnSpc>
              <a:buFont typeface="Arial"/>
              <a:buChar char="•"/>
            </a:pPr>
            <a:r>
              <a:rPr lang="en-US" b="true" sz="1900">
                <a:solidFill>
                  <a:srgbClr val="405449"/>
                </a:solidFill>
                <a:latin typeface="Arimo Bold"/>
                <a:ea typeface="Arimo Bold"/>
                <a:cs typeface="Arimo Bold"/>
                <a:sym typeface="Arimo Bold"/>
              </a:rPr>
              <a:t>Bizerte</a:t>
            </a:r>
            <a:r>
              <a:rPr lang="en-US" sz="1900">
                <a:solidFill>
                  <a:srgbClr val="405449"/>
                </a:solidFill>
                <a:latin typeface="Arimo"/>
                <a:ea typeface="Arimo"/>
                <a:cs typeface="Arimo"/>
                <a:sym typeface="Arimo"/>
              </a:rPr>
              <a:t> — Méditerranéen classique, hivers pluvieux</a:t>
            </a:r>
          </a:p>
          <a:p>
            <a:pPr algn="l" marL="458470" indent="-229235" lvl="1">
              <a:lnSpc>
                <a:spcPts val="2827"/>
              </a:lnSpc>
              <a:buFont typeface="Arial"/>
              <a:buChar char="•"/>
            </a:pPr>
            <a:r>
              <a:rPr lang="en-US" b="true" sz="1900">
                <a:solidFill>
                  <a:srgbClr val="405449"/>
                </a:solidFill>
                <a:latin typeface="Arimo Bold"/>
                <a:ea typeface="Arimo Bold"/>
                <a:cs typeface="Arimo Bold"/>
                <a:sym typeface="Arimo Bold"/>
              </a:rPr>
              <a:t>Tunis</a:t>
            </a:r>
            <a:r>
              <a:rPr lang="en-US" sz="1900">
                <a:solidFill>
                  <a:srgbClr val="405449"/>
                </a:solidFill>
                <a:latin typeface="Arimo"/>
                <a:ea typeface="Arimo"/>
                <a:cs typeface="Arimo"/>
                <a:sym typeface="Arimo"/>
              </a:rPr>
              <a:t> — Méditerranéen, températures plus chaudes</a:t>
            </a:r>
          </a:p>
          <a:p>
            <a:pPr algn="l" marL="458470" indent="-229235" lvl="1">
              <a:lnSpc>
                <a:spcPts val="2827"/>
              </a:lnSpc>
              <a:buFont typeface="Arial"/>
              <a:buChar char="•"/>
            </a:pPr>
            <a:r>
              <a:rPr lang="en-US" b="true" sz="1900">
                <a:solidFill>
                  <a:srgbClr val="405449"/>
                </a:solidFill>
                <a:latin typeface="Arimo Bold"/>
                <a:ea typeface="Arimo Bold"/>
                <a:cs typeface="Arimo Bold"/>
                <a:sym typeface="Arimo Bold"/>
              </a:rPr>
              <a:t>Sousse</a:t>
            </a:r>
            <a:r>
              <a:rPr lang="en-US" sz="1900">
                <a:solidFill>
                  <a:srgbClr val="405449"/>
                </a:solidFill>
                <a:latin typeface="Arimo"/>
                <a:ea typeface="Arimo"/>
                <a:cs typeface="Arimo"/>
                <a:sym typeface="Arimo"/>
              </a:rPr>
              <a:t> — Méditerranéen côtier, précipitations modérées</a:t>
            </a:r>
          </a:p>
          <a:p>
            <a:pPr algn="l" marL="458470" indent="-229235" lvl="1">
              <a:lnSpc>
                <a:spcPts val="2827"/>
              </a:lnSpc>
              <a:buFont typeface="Arial"/>
              <a:buChar char="•"/>
            </a:pPr>
            <a:r>
              <a:rPr lang="en-US" b="true" sz="1900">
                <a:solidFill>
                  <a:srgbClr val="405449"/>
                </a:solidFill>
                <a:latin typeface="Arimo Bold"/>
                <a:ea typeface="Arimo Bold"/>
                <a:cs typeface="Arimo Bold"/>
                <a:sym typeface="Arimo Bold"/>
              </a:rPr>
              <a:t>Sfax</a:t>
            </a:r>
            <a:r>
              <a:rPr lang="en-US" sz="1900">
                <a:solidFill>
                  <a:srgbClr val="405449"/>
                </a:solidFill>
                <a:latin typeface="Arimo"/>
                <a:ea typeface="Arimo"/>
                <a:cs typeface="Arimo"/>
                <a:sym typeface="Arimo"/>
              </a:rPr>
              <a:t> — Semi-aride, influence saharienne</a:t>
            </a:r>
          </a:p>
        </p:txBody>
      </p:sp>
      <p:sp>
        <p:nvSpPr>
          <p:cNvPr name="TextBox 18" id="18"/>
          <p:cNvSpPr txBox="true"/>
          <p:nvPr/>
        </p:nvSpPr>
        <p:spPr>
          <a:xfrm rot="0">
            <a:off x="9450734" y="6390237"/>
            <a:ext cx="6013256" cy="390230"/>
          </a:xfrm>
          <a:prstGeom prst="rect">
            <a:avLst/>
          </a:prstGeom>
        </p:spPr>
        <p:txBody>
          <a:bodyPr anchor="t" rtlCol="false" tIns="0" lIns="0" bIns="0" rIns="0">
            <a:spAutoFit/>
          </a:bodyPr>
          <a:lstStyle/>
          <a:p>
            <a:pPr algn="l">
              <a:lnSpc>
                <a:spcPts val="2870"/>
              </a:lnSpc>
            </a:pPr>
            <a:r>
              <a:rPr lang="en-US" sz="2300">
                <a:solidFill>
                  <a:srgbClr val="3B4540"/>
                </a:solidFill>
                <a:latin typeface="Fraunces"/>
                <a:ea typeface="Fraunces"/>
                <a:cs typeface="Fraunces"/>
                <a:sym typeface="Fraunces"/>
              </a:rPr>
              <a:t>30 Variables Brutes en 6 Familles</a:t>
            </a:r>
          </a:p>
        </p:txBody>
      </p:sp>
      <p:sp>
        <p:nvSpPr>
          <p:cNvPr name="TextBox 19" id="19"/>
          <p:cNvSpPr txBox="true"/>
          <p:nvPr/>
        </p:nvSpPr>
        <p:spPr>
          <a:xfrm rot="0">
            <a:off x="9450734" y="6923037"/>
            <a:ext cx="7994009" cy="791470"/>
          </a:xfrm>
          <a:prstGeom prst="rect">
            <a:avLst/>
          </a:prstGeom>
        </p:spPr>
        <p:txBody>
          <a:bodyPr anchor="t" rtlCol="false" tIns="0" lIns="0" bIns="0" rIns="0">
            <a:spAutoFit/>
          </a:bodyPr>
          <a:lstStyle/>
          <a:p>
            <a:pPr algn="l">
              <a:lnSpc>
                <a:spcPts val="2827"/>
              </a:lnSpc>
            </a:pPr>
            <a:r>
              <a:rPr lang="en-US" sz="1900">
                <a:solidFill>
                  <a:srgbClr val="405449"/>
                </a:solidFill>
                <a:latin typeface="Arimo"/>
                <a:ea typeface="Arimo"/>
                <a:cs typeface="Arimo"/>
                <a:sym typeface="Arimo"/>
              </a:rPr>
              <a:t>Température · Précipitations/Humidité · Vent · Pression · Ensoleillement · Bilan hydrique</a:t>
            </a:r>
          </a:p>
        </p:txBody>
      </p:sp>
      <p:sp>
        <p:nvSpPr>
          <p:cNvPr name="TextBox 20" id="20"/>
          <p:cNvSpPr txBox="true"/>
          <p:nvPr/>
        </p:nvSpPr>
        <p:spPr>
          <a:xfrm rot="0">
            <a:off x="9450734" y="7914237"/>
            <a:ext cx="4523784" cy="390230"/>
          </a:xfrm>
          <a:prstGeom prst="rect">
            <a:avLst/>
          </a:prstGeom>
        </p:spPr>
        <p:txBody>
          <a:bodyPr anchor="t" rtlCol="false" tIns="0" lIns="0" bIns="0" rIns="0">
            <a:spAutoFit/>
          </a:bodyPr>
          <a:lstStyle/>
          <a:p>
            <a:pPr algn="l">
              <a:lnSpc>
                <a:spcPts val="2870"/>
              </a:lnSpc>
            </a:pPr>
            <a:r>
              <a:rPr lang="en-US" sz="2300">
                <a:solidFill>
                  <a:srgbClr val="3B4540"/>
                </a:solidFill>
                <a:latin typeface="Fraunces"/>
                <a:ea typeface="Fraunces"/>
                <a:cs typeface="Fraunces"/>
                <a:sym typeface="Fraunces"/>
              </a:rPr>
              <a:t>Déséquilibre de Classes</a:t>
            </a:r>
          </a:p>
        </p:txBody>
      </p:sp>
      <p:sp>
        <p:nvSpPr>
          <p:cNvPr name="TextBox 21" id="21"/>
          <p:cNvSpPr txBox="true"/>
          <p:nvPr/>
        </p:nvSpPr>
        <p:spPr>
          <a:xfrm rot="0">
            <a:off x="9450734" y="8447037"/>
            <a:ext cx="7994009" cy="979884"/>
          </a:xfrm>
          <a:prstGeom prst="rect">
            <a:avLst/>
          </a:prstGeom>
        </p:spPr>
        <p:txBody>
          <a:bodyPr anchor="t" rtlCol="false" tIns="0" lIns="0" bIns="0" rIns="0">
            <a:spAutoFit/>
          </a:bodyPr>
          <a:lstStyle/>
          <a:p>
            <a:pPr algn="l">
              <a:lnSpc>
                <a:spcPts val="2827"/>
              </a:lnSpc>
            </a:pPr>
            <a:r>
              <a:rPr lang="en-US" sz="1900">
                <a:solidFill>
                  <a:srgbClr val="405449"/>
                </a:solidFill>
                <a:latin typeface="Arimo"/>
                <a:ea typeface="Arimo"/>
                <a:cs typeface="Arimo"/>
                <a:sym typeface="Arimo"/>
              </a:rPr>
              <a:t>Classe 0 (pas de pluie) : </a:t>
            </a:r>
            <a:r>
              <a:rPr lang="en-US" sz="1900" b="true">
                <a:solidFill>
                  <a:srgbClr val="405449"/>
                </a:solidFill>
                <a:latin typeface="Arimo Bold"/>
                <a:ea typeface="Arimo Bold"/>
                <a:cs typeface="Arimo Bold"/>
                <a:sym typeface="Arimo Bold"/>
              </a:rPr>
              <a:t>83,1%</a:t>
            </a:r>
            <a:r>
              <a:rPr lang="en-US" sz="1900">
                <a:solidFill>
                  <a:srgbClr val="405449"/>
                </a:solidFill>
                <a:latin typeface="Arimo"/>
                <a:ea typeface="Arimo"/>
                <a:cs typeface="Arimo"/>
                <a:sym typeface="Arimo"/>
              </a:rPr>
              <a:t> / Classe 1 (pluie) : </a:t>
            </a:r>
            <a:r>
              <a:rPr lang="en-US" sz="1900" b="true">
                <a:solidFill>
                  <a:srgbClr val="405449"/>
                </a:solidFill>
                <a:latin typeface="Arimo Bold"/>
                <a:ea typeface="Arimo Bold"/>
                <a:cs typeface="Arimo Bold"/>
                <a:sym typeface="Arimo Bold"/>
              </a:rPr>
              <a:t>16,9%</a:t>
            </a:r>
          </a:p>
          <a:p>
            <a:pPr algn="l">
              <a:lnSpc>
                <a:spcPts val="2827"/>
              </a:lnSpc>
            </a:pPr>
            <a:r>
              <a:rPr lang="en-US" sz="1900">
                <a:solidFill>
                  <a:srgbClr val="405449"/>
                </a:solidFill>
                <a:latin typeface="Arimo"/>
                <a:ea typeface="Arimo"/>
                <a:cs typeface="Arimo"/>
                <a:sym typeface="Arimo"/>
              </a:rPr>
              <a:t>Traitement : poids de classes inverses (LSTM) + seuil strict à 1,0 mm</a:t>
            </a:r>
          </a:p>
        </p:txBody>
      </p:sp>
      <p:sp>
        <p:nvSpPr>
          <p:cNvPr name="TextBox 22" id="22"/>
          <p:cNvSpPr txBox="true"/>
          <p:nvPr/>
        </p:nvSpPr>
        <p:spPr>
          <a:xfrm rot="0">
            <a:off x="17259300" y="9201150"/>
            <a:ext cx="152400" cy="209550"/>
          </a:xfrm>
          <a:prstGeom prst="rect">
            <a:avLst/>
          </a:prstGeom>
        </p:spPr>
        <p:txBody>
          <a:bodyPr anchor="t" rtlCol="false" tIns="0" lIns="0" bIns="0" rIns="0" wrap="none">
            <a:spAutoFit/>
          </a:bodyPr>
          <a:lstStyle/>
          <a:p>
            <a:pPr algn="ctr">
              <a:lnSpc>
                <a:spcPts val="3639"/>
              </a:lnSpc>
              <a:spcBef>
                <a:spcPct val="0"/>
              </a:spcBef>
            </a:pPr>
            <a:r>
              <a:rPr lang="en-US" sz="2599">
                <a:solidFill>
                  <a:srgbClr val="000000"/>
                </a:solidFill>
                <a:latin typeface="Open Sans"/>
                <a:ea typeface="Open Sans"/>
                <a:cs typeface="Open Sans"/>
                <a:sym typeface="Open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EEE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FFA"/>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7850238" y="1637262"/>
            <a:ext cx="9445523" cy="1790995"/>
          </a:xfrm>
          <a:prstGeom prst="rect">
            <a:avLst/>
          </a:prstGeom>
        </p:spPr>
        <p:txBody>
          <a:bodyPr anchor="t" rtlCol="false" tIns="0" lIns="0" bIns="0" rIns="0">
            <a:spAutoFit/>
          </a:bodyPr>
          <a:lstStyle/>
          <a:p>
            <a:pPr algn="l">
              <a:lnSpc>
                <a:spcPts val="6864"/>
              </a:lnSpc>
            </a:pPr>
            <a:r>
              <a:rPr lang="en-US" sz="5500">
                <a:solidFill>
                  <a:srgbClr val="3B4540"/>
                </a:solidFill>
                <a:latin typeface="Fraunces"/>
                <a:ea typeface="Fraunces"/>
                <a:cs typeface="Fraunces"/>
                <a:sym typeface="Fraunces"/>
              </a:rPr>
              <a:t>Feature Engineering : Pourquoi ?</a:t>
            </a:r>
          </a:p>
        </p:txBody>
      </p:sp>
      <p:sp>
        <p:nvSpPr>
          <p:cNvPr name="TextBox 9" id="9"/>
          <p:cNvSpPr txBox="true"/>
          <p:nvPr/>
        </p:nvSpPr>
        <p:spPr>
          <a:xfrm rot="0">
            <a:off x="8275444" y="4067623"/>
            <a:ext cx="9934727" cy="558403"/>
          </a:xfrm>
          <a:prstGeom prst="rect">
            <a:avLst/>
          </a:prstGeom>
        </p:spPr>
        <p:txBody>
          <a:bodyPr anchor="t" rtlCol="false" tIns="0" lIns="0" bIns="0" rIns="0">
            <a:spAutoFit/>
          </a:bodyPr>
          <a:lstStyle/>
          <a:p>
            <a:pPr algn="l">
              <a:lnSpc>
                <a:spcPts val="3511"/>
              </a:lnSpc>
            </a:pPr>
            <a:r>
              <a:rPr lang="en-US" sz="2200">
                <a:solidFill>
                  <a:srgbClr val="405449"/>
                </a:solidFill>
                <a:latin typeface="Arimo"/>
                <a:ea typeface="Arimo"/>
                <a:cs typeface="Arimo"/>
                <a:sym typeface="Arimo"/>
              </a:rPr>
              <a:t>La météo a une mémoire — le modèle doit l'avoir aussi.</a:t>
            </a:r>
          </a:p>
        </p:txBody>
      </p:sp>
      <p:grpSp>
        <p:nvGrpSpPr>
          <p:cNvPr name="Group 10" id="10"/>
          <p:cNvGrpSpPr/>
          <p:nvPr/>
        </p:nvGrpSpPr>
        <p:grpSpPr>
          <a:xfrm rot="0">
            <a:off x="7850238" y="3853463"/>
            <a:ext cx="38100" cy="1091508"/>
            <a:chOff x="0" y="0"/>
            <a:chExt cx="50800" cy="1455344"/>
          </a:xfrm>
        </p:grpSpPr>
        <p:sp>
          <p:nvSpPr>
            <p:cNvPr name="Freeform 11" id="11"/>
            <p:cNvSpPr/>
            <p:nvPr/>
          </p:nvSpPr>
          <p:spPr>
            <a:xfrm flipH="false" flipV="false" rot="0">
              <a:off x="0" y="0"/>
              <a:ext cx="50800" cy="1455293"/>
            </a:xfrm>
            <a:custGeom>
              <a:avLst/>
              <a:gdLst/>
              <a:ahLst/>
              <a:cxnLst/>
              <a:rect r="r" b="b" t="t" l="l"/>
              <a:pathLst>
                <a:path h="1455293" w="50800">
                  <a:moveTo>
                    <a:pt x="0" y="0"/>
                  </a:moveTo>
                  <a:lnTo>
                    <a:pt x="50800" y="0"/>
                  </a:lnTo>
                  <a:lnTo>
                    <a:pt x="50800" y="1455293"/>
                  </a:lnTo>
                  <a:lnTo>
                    <a:pt x="0" y="1455293"/>
                  </a:lnTo>
                  <a:close/>
                </a:path>
              </a:pathLst>
            </a:custGeom>
            <a:solidFill>
              <a:srgbClr val="438951"/>
            </a:solidFill>
          </p:spPr>
        </p:sp>
      </p:grpSp>
      <p:sp>
        <p:nvSpPr>
          <p:cNvPr name="TextBox 12" id="12"/>
          <p:cNvSpPr txBox="true"/>
          <p:nvPr/>
        </p:nvSpPr>
        <p:spPr>
          <a:xfrm rot="0">
            <a:off x="7850238" y="5159131"/>
            <a:ext cx="9445523" cy="1465659"/>
          </a:xfrm>
          <a:prstGeom prst="rect">
            <a:avLst/>
          </a:prstGeom>
        </p:spPr>
        <p:txBody>
          <a:bodyPr anchor="t" rtlCol="false" tIns="0" lIns="0" bIns="0" rIns="0">
            <a:spAutoFit/>
          </a:bodyPr>
          <a:lstStyle/>
          <a:p>
            <a:pPr algn="l">
              <a:lnSpc>
                <a:spcPts val="3511"/>
              </a:lnSpc>
            </a:pPr>
            <a:r>
              <a:rPr lang="en-US" sz="2200">
                <a:solidFill>
                  <a:srgbClr val="405449"/>
                </a:solidFill>
                <a:latin typeface="Arimo"/>
                <a:ea typeface="Arimo"/>
                <a:cs typeface="Arimo"/>
                <a:sym typeface="Arimo"/>
              </a:rPr>
              <a:t>Un modèle ne voit qu'une ligne. Mais un jour de pluie n'arrive jamais seul : la pression baisse progressivement, l'humidité monte sur plusieurs jours, les systèmes frontaux se déplacent lentement.</a:t>
            </a:r>
          </a:p>
        </p:txBody>
      </p:sp>
      <p:grpSp>
        <p:nvGrpSpPr>
          <p:cNvPr name="Group 13" id="13"/>
          <p:cNvGrpSpPr/>
          <p:nvPr/>
        </p:nvGrpSpPr>
        <p:grpSpPr>
          <a:xfrm rot="0">
            <a:off x="7850238" y="6943725"/>
            <a:ext cx="9445523" cy="1686963"/>
            <a:chOff x="0" y="0"/>
            <a:chExt cx="12594031" cy="2249284"/>
          </a:xfrm>
        </p:grpSpPr>
        <p:sp>
          <p:nvSpPr>
            <p:cNvPr name="Freeform 14" id="14"/>
            <p:cNvSpPr/>
            <p:nvPr/>
          </p:nvSpPr>
          <p:spPr>
            <a:xfrm flipH="false" flipV="false" rot="0">
              <a:off x="0" y="0"/>
              <a:ext cx="12593955" cy="2249297"/>
            </a:xfrm>
            <a:custGeom>
              <a:avLst/>
              <a:gdLst/>
              <a:ahLst/>
              <a:cxnLst/>
              <a:rect r="r" b="b" t="t" l="l"/>
              <a:pathLst>
                <a:path h="2249297" w="12593955">
                  <a:moveTo>
                    <a:pt x="0" y="340233"/>
                  </a:moveTo>
                  <a:cubicBezTo>
                    <a:pt x="0" y="152273"/>
                    <a:pt x="152273" y="0"/>
                    <a:pt x="340233" y="0"/>
                  </a:cubicBezTo>
                  <a:lnTo>
                    <a:pt x="12253722" y="0"/>
                  </a:lnTo>
                  <a:cubicBezTo>
                    <a:pt x="12441682" y="0"/>
                    <a:pt x="12593955" y="152273"/>
                    <a:pt x="12593955" y="340233"/>
                  </a:cubicBezTo>
                  <a:lnTo>
                    <a:pt x="12593955" y="1909064"/>
                  </a:lnTo>
                  <a:cubicBezTo>
                    <a:pt x="12593955" y="2097024"/>
                    <a:pt x="12441682" y="2249297"/>
                    <a:pt x="12253722" y="2249297"/>
                  </a:cubicBezTo>
                  <a:lnTo>
                    <a:pt x="340233" y="2249297"/>
                  </a:lnTo>
                  <a:cubicBezTo>
                    <a:pt x="152273" y="2249297"/>
                    <a:pt x="0" y="2096897"/>
                    <a:pt x="0" y="1909064"/>
                  </a:cubicBezTo>
                  <a:close/>
                </a:path>
              </a:pathLst>
            </a:custGeom>
            <a:solidFill>
              <a:srgbClr val="B6D6FC"/>
            </a:solidFill>
          </p:spPr>
        </p:sp>
      </p:grpSp>
      <p:grpSp>
        <p:nvGrpSpPr>
          <p:cNvPr name="Group 15" id="15"/>
          <p:cNvGrpSpPr/>
          <p:nvPr/>
        </p:nvGrpSpPr>
        <p:grpSpPr>
          <a:xfrm rot="0">
            <a:off x="8133750" y="7354786"/>
            <a:ext cx="354359" cy="283521"/>
            <a:chOff x="0" y="0"/>
            <a:chExt cx="472478" cy="378028"/>
          </a:xfrm>
        </p:grpSpPr>
        <p:sp>
          <p:nvSpPr>
            <p:cNvPr name="Freeform 16" id="16" descr="preencoded.png"/>
            <p:cNvSpPr/>
            <p:nvPr/>
          </p:nvSpPr>
          <p:spPr>
            <a:xfrm flipH="false" flipV="false" rot="0">
              <a:off x="0" y="0"/>
              <a:ext cx="472440" cy="378079"/>
            </a:xfrm>
            <a:custGeom>
              <a:avLst/>
              <a:gdLst/>
              <a:ahLst/>
              <a:cxnLst/>
              <a:rect r="r" b="b" t="t" l="l"/>
              <a:pathLst>
                <a:path h="378079" w="472440">
                  <a:moveTo>
                    <a:pt x="0" y="0"/>
                  </a:moveTo>
                  <a:lnTo>
                    <a:pt x="472440" y="0"/>
                  </a:lnTo>
                  <a:lnTo>
                    <a:pt x="472440" y="378079"/>
                  </a:lnTo>
                  <a:lnTo>
                    <a:pt x="0" y="378079"/>
                  </a:lnTo>
                  <a:lnTo>
                    <a:pt x="0" y="0"/>
                  </a:lnTo>
                  <a:close/>
                </a:path>
              </a:pathLst>
            </a:custGeom>
            <a:blipFill>
              <a:blip r:embed="rId4"/>
              <a:stretch>
                <a:fillRect l="0" t="-671" r="-8" b="-655"/>
              </a:stretch>
            </a:blipFill>
          </p:spPr>
        </p:sp>
      </p:grpSp>
      <p:sp>
        <p:nvSpPr>
          <p:cNvPr name="TextBox 17" id="17"/>
          <p:cNvSpPr txBox="true"/>
          <p:nvPr/>
        </p:nvSpPr>
        <p:spPr>
          <a:xfrm rot="0">
            <a:off x="8771630" y="7193309"/>
            <a:ext cx="8240611" cy="1040606"/>
          </a:xfrm>
          <a:prstGeom prst="rect">
            <a:avLst/>
          </a:prstGeom>
        </p:spPr>
        <p:txBody>
          <a:bodyPr anchor="t" rtlCol="false" tIns="0" lIns="0" bIns="0" rIns="0">
            <a:spAutoFit/>
          </a:bodyPr>
          <a:lstStyle/>
          <a:p>
            <a:pPr algn="l">
              <a:lnSpc>
                <a:spcPts val="3511"/>
              </a:lnSpc>
            </a:pPr>
            <a:r>
              <a:rPr lang="en-US" sz="2200" b="true">
                <a:solidFill>
                  <a:srgbClr val="000000"/>
                </a:solidFill>
                <a:latin typeface="Arimo Bold"/>
                <a:ea typeface="Arimo Bold"/>
                <a:cs typeface="Arimo Bold"/>
                <a:sym typeface="Arimo Bold"/>
              </a:rPr>
              <a:t>Solution :</a:t>
            </a:r>
            <a:r>
              <a:rPr lang="en-US" sz="2200">
                <a:solidFill>
                  <a:srgbClr val="000000"/>
                </a:solidFill>
                <a:latin typeface="Arimo"/>
                <a:ea typeface="Arimo"/>
                <a:cs typeface="Arimo"/>
                <a:sym typeface="Arimo"/>
              </a:rPr>
              <a:t> Le feature engineering construit une </a:t>
            </a:r>
            <a:r>
              <a:rPr lang="en-US" sz="2200" b="true">
                <a:solidFill>
                  <a:srgbClr val="000000"/>
                </a:solidFill>
                <a:latin typeface="Arimo Bold"/>
                <a:ea typeface="Arimo Bold"/>
                <a:cs typeface="Arimo Bold"/>
                <a:sym typeface="Arimo Bold"/>
              </a:rPr>
              <a:t>mémoire artificielle</a:t>
            </a:r>
            <a:r>
              <a:rPr lang="en-US" sz="2200">
                <a:solidFill>
                  <a:srgbClr val="000000"/>
                </a:solidFill>
                <a:latin typeface="Arimo"/>
                <a:ea typeface="Arimo"/>
                <a:cs typeface="Arimo"/>
                <a:sym typeface="Arimo"/>
              </a:rPr>
              <a:t> pour le modèle — implémenté dans features.py.</a:t>
            </a:r>
          </a:p>
        </p:txBody>
      </p:sp>
      <p:sp>
        <p:nvSpPr>
          <p:cNvPr name="TextBox 18" id="18"/>
          <p:cNvSpPr txBox="true"/>
          <p:nvPr/>
        </p:nvSpPr>
        <p:spPr>
          <a:xfrm rot="0">
            <a:off x="17259300" y="9201150"/>
            <a:ext cx="152400" cy="209550"/>
          </a:xfrm>
          <a:prstGeom prst="rect">
            <a:avLst/>
          </a:prstGeom>
        </p:spPr>
        <p:txBody>
          <a:bodyPr anchor="t" rtlCol="false" tIns="0" lIns="0" bIns="0" rIns="0" wrap="none">
            <a:spAutoFit/>
          </a:bodyPr>
          <a:lstStyle/>
          <a:p>
            <a:pPr algn="ctr">
              <a:lnSpc>
                <a:spcPts val="3639"/>
              </a:lnSpc>
              <a:spcBef>
                <a:spcPct val="0"/>
              </a:spcBef>
            </a:pPr>
            <a:r>
              <a:rPr lang="en-US" sz="2599">
                <a:solidFill>
                  <a:srgbClr val="000000"/>
                </a:solidFill>
                <a:latin typeface="Open Sans"/>
                <a:ea typeface="Open Sans"/>
                <a:cs typeface="Open Sans"/>
                <a:sym typeface="Open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EEE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FFA"/>
            </a:solidFill>
          </p:spPr>
        </p:sp>
      </p:grpSp>
      <p:sp>
        <p:nvSpPr>
          <p:cNvPr name="TextBox 6" id="6"/>
          <p:cNvSpPr txBox="true"/>
          <p:nvPr/>
        </p:nvSpPr>
        <p:spPr>
          <a:xfrm rot="0">
            <a:off x="992238" y="1438570"/>
            <a:ext cx="15924762" cy="905027"/>
          </a:xfrm>
          <a:prstGeom prst="rect">
            <a:avLst/>
          </a:prstGeom>
        </p:spPr>
        <p:txBody>
          <a:bodyPr anchor="t" rtlCol="false" tIns="0" lIns="0" bIns="0" rIns="0">
            <a:spAutoFit/>
          </a:bodyPr>
          <a:lstStyle/>
          <a:p>
            <a:pPr algn="l">
              <a:lnSpc>
                <a:spcPts val="6864"/>
              </a:lnSpc>
            </a:pPr>
            <a:r>
              <a:rPr lang="en-US" sz="5500">
                <a:solidFill>
                  <a:srgbClr val="3B4540"/>
                </a:solidFill>
                <a:latin typeface="Fraunces"/>
                <a:ea typeface="Fraunces"/>
                <a:cs typeface="Fraunces"/>
                <a:sym typeface="Fraunces"/>
              </a:rPr>
              <a:t>Feature Engineering : Lags &amp; Rolling Stats</a:t>
            </a:r>
          </a:p>
        </p:txBody>
      </p:sp>
      <p:sp>
        <p:nvSpPr>
          <p:cNvPr name="TextBox 7" id="7"/>
          <p:cNvSpPr txBox="true"/>
          <p:nvPr/>
        </p:nvSpPr>
        <p:spPr>
          <a:xfrm rot="0">
            <a:off x="992238" y="3042790"/>
            <a:ext cx="7374436" cy="452437"/>
          </a:xfrm>
          <a:prstGeom prst="rect">
            <a:avLst/>
          </a:prstGeom>
        </p:spPr>
        <p:txBody>
          <a:bodyPr anchor="t" rtlCol="false" tIns="0" lIns="0" bIns="0" rIns="0">
            <a:spAutoFit/>
          </a:bodyPr>
          <a:lstStyle/>
          <a:p>
            <a:pPr algn="l">
              <a:lnSpc>
                <a:spcPts val="3369"/>
              </a:lnSpc>
            </a:pPr>
            <a:r>
              <a:rPr lang="en-US" sz="2700">
                <a:solidFill>
                  <a:srgbClr val="3B4540"/>
                </a:solidFill>
                <a:latin typeface="Fraunces"/>
                <a:ea typeface="Fraunces"/>
                <a:cs typeface="Fraunces"/>
                <a:sym typeface="Fraunces"/>
              </a:rPr>
              <a:t>Lag Features (Décalages Temporels)</a:t>
            </a:r>
          </a:p>
        </p:txBody>
      </p:sp>
      <p:sp>
        <p:nvSpPr>
          <p:cNvPr name="TextBox 8" id="8"/>
          <p:cNvSpPr txBox="true"/>
          <p:nvPr/>
        </p:nvSpPr>
        <p:spPr>
          <a:xfrm rot="0">
            <a:off x="992238" y="3673973"/>
            <a:ext cx="7805890" cy="2075555"/>
          </a:xfrm>
          <a:prstGeom prst="rect">
            <a:avLst/>
          </a:prstGeom>
        </p:spPr>
        <p:txBody>
          <a:bodyPr anchor="t" rtlCol="false" tIns="0" lIns="0" bIns="0" rIns="0">
            <a:spAutoFit/>
          </a:bodyPr>
          <a:lstStyle/>
          <a:p>
            <a:pPr algn="l" marL="530860" indent="-265430" lvl="1">
              <a:lnSpc>
                <a:spcPts val="3511"/>
              </a:lnSpc>
              <a:buFont typeface="Arial"/>
              <a:buChar char="•"/>
            </a:pPr>
            <a:r>
              <a:rPr lang="en-US" sz="2200">
                <a:solidFill>
                  <a:srgbClr val="405449"/>
                </a:solidFill>
                <a:latin typeface="Arimo"/>
                <a:ea typeface="Arimo"/>
                <a:cs typeface="Arimo"/>
                <a:sym typeface="Arimo"/>
              </a:rPr>
              <a:t>pluie_lag1, pluie_lag3, pluie_lag7 — précipitations hier, il y a 3j, 7j</a:t>
            </a:r>
          </a:p>
          <a:p>
            <a:pPr algn="l" marL="530860" indent="-265430" lvl="1">
              <a:lnSpc>
                <a:spcPts val="3511"/>
              </a:lnSpc>
              <a:buFont typeface="Arial"/>
              <a:buChar char="•"/>
            </a:pPr>
            <a:r>
              <a:rPr lang="en-US" sz="2200">
                <a:solidFill>
                  <a:srgbClr val="405449"/>
                </a:solidFill>
                <a:latin typeface="Arimo"/>
                <a:ea typeface="Arimo"/>
                <a:cs typeface="Arimo"/>
                <a:sym typeface="Arimo"/>
              </a:rPr>
              <a:t>temp_lag1, pression_lag1 — température et pression d'hier</a:t>
            </a:r>
          </a:p>
        </p:txBody>
      </p:sp>
      <p:sp>
        <p:nvSpPr>
          <p:cNvPr name="TextBox 9" id="9"/>
          <p:cNvSpPr txBox="true"/>
          <p:nvPr/>
        </p:nvSpPr>
        <p:spPr>
          <a:xfrm rot="0">
            <a:off x="992238" y="6023524"/>
            <a:ext cx="8107261" cy="452437"/>
          </a:xfrm>
          <a:prstGeom prst="rect">
            <a:avLst/>
          </a:prstGeom>
        </p:spPr>
        <p:txBody>
          <a:bodyPr anchor="t" rtlCol="false" tIns="0" lIns="0" bIns="0" rIns="0">
            <a:spAutoFit/>
          </a:bodyPr>
          <a:lstStyle/>
          <a:p>
            <a:pPr algn="l">
              <a:lnSpc>
                <a:spcPts val="3369"/>
              </a:lnSpc>
            </a:pPr>
            <a:r>
              <a:rPr lang="en-US" sz="2700">
                <a:solidFill>
                  <a:srgbClr val="3B4540"/>
                </a:solidFill>
                <a:latin typeface="Fraunces"/>
                <a:ea typeface="Fraunces"/>
                <a:cs typeface="Fraunces"/>
                <a:sym typeface="Fraunces"/>
              </a:rPr>
              <a:t>Rolling Statistics (Moyennes Glissantes)</a:t>
            </a:r>
          </a:p>
        </p:txBody>
      </p:sp>
      <p:sp>
        <p:nvSpPr>
          <p:cNvPr name="TextBox 10" id="10"/>
          <p:cNvSpPr txBox="true"/>
          <p:nvPr/>
        </p:nvSpPr>
        <p:spPr>
          <a:xfrm rot="0">
            <a:off x="992238" y="6654698"/>
            <a:ext cx="7805890" cy="2075555"/>
          </a:xfrm>
          <a:prstGeom prst="rect">
            <a:avLst/>
          </a:prstGeom>
        </p:spPr>
        <p:txBody>
          <a:bodyPr anchor="t" rtlCol="false" tIns="0" lIns="0" bIns="0" rIns="0">
            <a:spAutoFit/>
          </a:bodyPr>
          <a:lstStyle/>
          <a:p>
            <a:pPr algn="l" marL="530860" indent="-265430" lvl="1">
              <a:lnSpc>
                <a:spcPts val="3511"/>
              </a:lnSpc>
              <a:buFont typeface="Arial"/>
              <a:buChar char="•"/>
            </a:pPr>
            <a:r>
              <a:rPr lang="en-US" sz="2200">
                <a:solidFill>
                  <a:srgbClr val="405449"/>
                </a:solidFill>
                <a:latin typeface="Arimo"/>
                <a:ea typeface="Arimo"/>
                <a:cs typeface="Arimo"/>
                <a:sym typeface="Arimo"/>
              </a:rPr>
              <a:t>rolling_pluie_7j / rolling_pluie_30j → Régime perturbé ou anticyclone sec ?</a:t>
            </a:r>
          </a:p>
          <a:p>
            <a:pPr algn="l" marL="530860" indent="-265430" lvl="1">
              <a:lnSpc>
                <a:spcPts val="3511"/>
              </a:lnSpc>
              <a:buFont typeface="Arial"/>
              <a:buChar char="•"/>
            </a:pPr>
            <a:r>
              <a:rPr lang="en-US" sz="2200">
                <a:solidFill>
                  <a:srgbClr val="405449"/>
                </a:solidFill>
                <a:latin typeface="Consolas"/>
                <a:ea typeface="Consolas"/>
                <a:cs typeface="Consolas"/>
                <a:sym typeface="Consolas"/>
              </a:rPr>
              <a:t>rolling_temp_7j / rolling_humidite_7j → Contexte thermique et hydrique</a:t>
            </a:r>
          </a:p>
        </p:txBody>
      </p:sp>
      <p:grpSp>
        <p:nvGrpSpPr>
          <p:cNvPr name="Group 11" id="11"/>
          <p:cNvGrpSpPr/>
          <p:nvPr/>
        </p:nvGrpSpPr>
        <p:grpSpPr>
          <a:xfrm rot="0">
            <a:off x="9499406" y="3087738"/>
            <a:ext cx="7805890" cy="2159641"/>
            <a:chOff x="0" y="0"/>
            <a:chExt cx="10407853" cy="2879522"/>
          </a:xfrm>
        </p:grpSpPr>
        <p:sp>
          <p:nvSpPr>
            <p:cNvPr name="Freeform 12" id="12"/>
            <p:cNvSpPr/>
            <p:nvPr/>
          </p:nvSpPr>
          <p:spPr>
            <a:xfrm flipH="false" flipV="false" rot="0">
              <a:off x="0" y="0"/>
              <a:ext cx="10407776" cy="2879471"/>
            </a:xfrm>
            <a:custGeom>
              <a:avLst/>
              <a:gdLst/>
              <a:ahLst/>
              <a:cxnLst/>
              <a:rect r="r" b="b" t="t" l="l"/>
              <a:pathLst>
                <a:path h="2879471" w="10407776">
                  <a:moveTo>
                    <a:pt x="0" y="340233"/>
                  </a:moveTo>
                  <a:cubicBezTo>
                    <a:pt x="0" y="152273"/>
                    <a:pt x="152273" y="0"/>
                    <a:pt x="340233" y="0"/>
                  </a:cubicBezTo>
                  <a:lnTo>
                    <a:pt x="10067544" y="0"/>
                  </a:lnTo>
                  <a:cubicBezTo>
                    <a:pt x="10255503" y="0"/>
                    <a:pt x="10407776" y="152273"/>
                    <a:pt x="10407776" y="340233"/>
                  </a:cubicBezTo>
                  <a:lnTo>
                    <a:pt x="10407776" y="2539238"/>
                  </a:lnTo>
                  <a:cubicBezTo>
                    <a:pt x="10407776" y="2727198"/>
                    <a:pt x="10255503" y="2879471"/>
                    <a:pt x="10067544" y="2879471"/>
                  </a:cubicBezTo>
                  <a:lnTo>
                    <a:pt x="340233" y="2879471"/>
                  </a:lnTo>
                  <a:cubicBezTo>
                    <a:pt x="152273" y="2879471"/>
                    <a:pt x="0" y="2727198"/>
                    <a:pt x="0" y="2539238"/>
                  </a:cubicBezTo>
                  <a:close/>
                </a:path>
              </a:pathLst>
            </a:custGeom>
            <a:solidFill>
              <a:srgbClr val="FCF2B5"/>
            </a:solidFill>
          </p:spPr>
        </p:sp>
      </p:grpSp>
      <p:grpSp>
        <p:nvGrpSpPr>
          <p:cNvPr name="Group 13" id="13"/>
          <p:cNvGrpSpPr/>
          <p:nvPr/>
        </p:nvGrpSpPr>
        <p:grpSpPr>
          <a:xfrm rot="0">
            <a:off x="9782918" y="3498799"/>
            <a:ext cx="354359" cy="283521"/>
            <a:chOff x="0" y="0"/>
            <a:chExt cx="472478" cy="378028"/>
          </a:xfrm>
        </p:grpSpPr>
        <p:sp>
          <p:nvSpPr>
            <p:cNvPr name="Freeform 14" id="14" descr="preencoded.png"/>
            <p:cNvSpPr/>
            <p:nvPr/>
          </p:nvSpPr>
          <p:spPr>
            <a:xfrm flipH="false" flipV="false" rot="0">
              <a:off x="0" y="0"/>
              <a:ext cx="472440" cy="378079"/>
            </a:xfrm>
            <a:custGeom>
              <a:avLst/>
              <a:gdLst/>
              <a:ahLst/>
              <a:cxnLst/>
              <a:rect r="r" b="b" t="t" l="l"/>
              <a:pathLst>
                <a:path h="378079" w="472440">
                  <a:moveTo>
                    <a:pt x="0" y="0"/>
                  </a:moveTo>
                  <a:lnTo>
                    <a:pt x="472440" y="0"/>
                  </a:lnTo>
                  <a:lnTo>
                    <a:pt x="472440" y="378079"/>
                  </a:lnTo>
                  <a:lnTo>
                    <a:pt x="0" y="378079"/>
                  </a:lnTo>
                  <a:lnTo>
                    <a:pt x="0" y="0"/>
                  </a:lnTo>
                  <a:close/>
                </a:path>
              </a:pathLst>
            </a:custGeom>
            <a:blipFill>
              <a:blip r:embed="rId3"/>
              <a:stretch>
                <a:fillRect l="0" t="-671" r="-8" b="-655"/>
              </a:stretch>
            </a:blipFill>
          </p:spPr>
        </p:sp>
      </p:grpSp>
      <p:sp>
        <p:nvSpPr>
          <p:cNvPr name="TextBox 15" id="15"/>
          <p:cNvSpPr txBox="true"/>
          <p:nvPr/>
        </p:nvSpPr>
        <p:spPr>
          <a:xfrm rot="0">
            <a:off x="10420798" y="3337322"/>
            <a:ext cx="6600977" cy="1513284"/>
          </a:xfrm>
          <a:prstGeom prst="rect">
            <a:avLst/>
          </a:prstGeom>
        </p:spPr>
        <p:txBody>
          <a:bodyPr anchor="t" rtlCol="false" tIns="0" lIns="0" bIns="0" rIns="0">
            <a:spAutoFit/>
          </a:bodyPr>
          <a:lstStyle/>
          <a:p>
            <a:pPr algn="l">
              <a:lnSpc>
                <a:spcPts val="3511"/>
              </a:lnSpc>
            </a:pPr>
            <a:r>
              <a:rPr lang="en-US" sz="2200">
                <a:solidFill>
                  <a:srgbClr val="000000"/>
                </a:solidFill>
                <a:latin typeface="Arimo"/>
                <a:ea typeface="Arimo"/>
                <a:cs typeface="Arimo"/>
                <a:sym typeface="Arimo"/>
              </a:rPr>
              <a:t>⚠️ </a:t>
            </a:r>
            <a:r>
              <a:rPr lang="en-US" sz="2200" b="true">
                <a:solidFill>
                  <a:srgbClr val="000000"/>
                </a:solidFill>
                <a:latin typeface="Arimo Bold"/>
                <a:ea typeface="Arimo Bold"/>
                <a:cs typeface="Arimo Bold"/>
                <a:sym typeface="Arimo Bold"/>
              </a:rPr>
              <a:t>Attention au leakage :</a:t>
            </a:r>
            <a:r>
              <a:rPr lang="en-US" sz="2200">
                <a:solidFill>
                  <a:srgbClr val="000000"/>
                </a:solidFill>
                <a:latin typeface="Arimo"/>
                <a:ea typeface="Arimo"/>
                <a:cs typeface="Arimo"/>
                <a:sym typeface="Arimo"/>
              </a:rPr>
              <a:t> tous les calculs sont groupés par ville (groupby("ville")) pour éviter tout mélange entre séries temporelles distinctes.</a:t>
            </a:r>
          </a:p>
        </p:txBody>
      </p:sp>
      <p:sp>
        <p:nvSpPr>
          <p:cNvPr name="TextBox 16" id="16"/>
          <p:cNvSpPr txBox="true"/>
          <p:nvPr/>
        </p:nvSpPr>
        <p:spPr>
          <a:xfrm rot="0">
            <a:off x="17259300" y="9201150"/>
            <a:ext cx="152400" cy="209550"/>
          </a:xfrm>
          <a:prstGeom prst="rect">
            <a:avLst/>
          </a:prstGeom>
        </p:spPr>
        <p:txBody>
          <a:bodyPr anchor="t" rtlCol="false" tIns="0" lIns="0" bIns="0" rIns="0" wrap="none">
            <a:spAutoFit/>
          </a:bodyPr>
          <a:lstStyle/>
          <a:p>
            <a:pPr algn="ctr">
              <a:lnSpc>
                <a:spcPts val="3639"/>
              </a:lnSpc>
              <a:spcBef>
                <a:spcPct val="0"/>
              </a:spcBef>
            </a:pPr>
            <a:r>
              <a:rPr lang="en-US" sz="2599">
                <a:solidFill>
                  <a:srgbClr val="000000"/>
                </a:solidFill>
                <a:latin typeface="Open Sans"/>
                <a:ea typeface="Open Sans"/>
                <a:cs typeface="Open Sans"/>
                <a:sym typeface="Open Sans"/>
              </a:rPr>
              <a:t>5</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EEE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FFA"/>
            </a:solidFill>
          </p:spPr>
        </p:sp>
      </p:grpSp>
      <p:sp>
        <p:nvSpPr>
          <p:cNvPr name="TextBox 6" id="6"/>
          <p:cNvSpPr txBox="true"/>
          <p:nvPr/>
        </p:nvSpPr>
        <p:spPr>
          <a:xfrm rot="0">
            <a:off x="992238" y="1723730"/>
            <a:ext cx="14940410" cy="905027"/>
          </a:xfrm>
          <a:prstGeom prst="rect">
            <a:avLst/>
          </a:prstGeom>
        </p:spPr>
        <p:txBody>
          <a:bodyPr anchor="t" rtlCol="false" tIns="0" lIns="0" bIns="0" rIns="0">
            <a:spAutoFit/>
          </a:bodyPr>
          <a:lstStyle/>
          <a:p>
            <a:pPr algn="l">
              <a:lnSpc>
                <a:spcPts val="6864"/>
              </a:lnSpc>
            </a:pPr>
            <a:r>
              <a:rPr lang="en-US" sz="5500">
                <a:solidFill>
                  <a:srgbClr val="3B4540"/>
                </a:solidFill>
                <a:latin typeface="Fraunces"/>
                <a:ea typeface="Fraunces"/>
                <a:cs typeface="Fraunces"/>
                <a:sym typeface="Fraunces"/>
              </a:rPr>
              <a:t>Features Dérivées &amp; Encodage Cyclique</a:t>
            </a:r>
          </a:p>
        </p:txBody>
      </p:sp>
      <p:sp>
        <p:nvSpPr>
          <p:cNvPr name="TextBox 7" id="7"/>
          <p:cNvSpPr txBox="true"/>
          <p:nvPr/>
        </p:nvSpPr>
        <p:spPr>
          <a:xfrm rot="0">
            <a:off x="992238" y="3327949"/>
            <a:ext cx="7919295" cy="452437"/>
          </a:xfrm>
          <a:prstGeom prst="rect">
            <a:avLst/>
          </a:prstGeom>
        </p:spPr>
        <p:txBody>
          <a:bodyPr anchor="t" rtlCol="false" tIns="0" lIns="0" bIns="0" rIns="0">
            <a:spAutoFit/>
          </a:bodyPr>
          <a:lstStyle/>
          <a:p>
            <a:pPr algn="l">
              <a:lnSpc>
                <a:spcPts val="3369"/>
              </a:lnSpc>
            </a:pPr>
            <a:r>
              <a:rPr lang="en-US" sz="2700">
                <a:solidFill>
                  <a:srgbClr val="3B4540"/>
                </a:solidFill>
                <a:latin typeface="Fraunces"/>
                <a:ea typeface="Fraunces"/>
                <a:cs typeface="Fraunces"/>
                <a:sym typeface="Fraunces"/>
              </a:rPr>
              <a:t>Features Dérivées à Sens Physique Fort</a:t>
            </a:r>
          </a:p>
        </p:txBody>
      </p:sp>
      <p:sp>
        <p:nvSpPr>
          <p:cNvPr name="TextBox 8" id="8"/>
          <p:cNvSpPr txBox="true"/>
          <p:nvPr/>
        </p:nvSpPr>
        <p:spPr>
          <a:xfrm rot="0">
            <a:off x="992238" y="3959123"/>
            <a:ext cx="7805890" cy="3110503"/>
          </a:xfrm>
          <a:prstGeom prst="rect">
            <a:avLst/>
          </a:prstGeom>
        </p:spPr>
        <p:txBody>
          <a:bodyPr anchor="t" rtlCol="false" tIns="0" lIns="0" bIns="0" rIns="0">
            <a:spAutoFit/>
          </a:bodyPr>
          <a:lstStyle/>
          <a:p>
            <a:pPr algn="l" marL="530860" indent="-265430" lvl="1">
              <a:lnSpc>
                <a:spcPts val="3511"/>
              </a:lnSpc>
              <a:buFont typeface="Arial"/>
              <a:buChar char="•"/>
            </a:pPr>
            <a:r>
              <a:rPr lang="en-US" sz="2200">
                <a:solidFill>
                  <a:srgbClr val="405449"/>
                </a:solidFill>
                <a:latin typeface="Arimo"/>
                <a:ea typeface="Arimo"/>
                <a:cs typeface="Arimo"/>
                <a:sym typeface="Arimo"/>
              </a:rPr>
              <a:t>delta_pression = pression_max − pression_min (instabilité atmosphérique)</a:t>
            </a:r>
          </a:p>
          <a:p>
            <a:pPr algn="l" marL="530860" indent="-265430" lvl="1">
              <a:lnSpc>
                <a:spcPts val="3511"/>
              </a:lnSpc>
              <a:buFont typeface="Arial"/>
              <a:buChar char="•"/>
            </a:pPr>
            <a:r>
              <a:rPr lang="en-US" sz="2200">
                <a:solidFill>
                  <a:srgbClr val="405449"/>
                </a:solidFill>
                <a:latin typeface="Arimo"/>
                <a:ea typeface="Arimo"/>
                <a:cs typeface="Arimo"/>
                <a:sym typeface="Arimo"/>
              </a:rPr>
              <a:t>stress_hydrique = evapotranspiration − precipitation (bilan du sol)</a:t>
            </a:r>
          </a:p>
          <a:p>
            <a:pPr algn="l" marL="530860" indent="-265430" lvl="1">
              <a:lnSpc>
                <a:spcPts val="3511"/>
              </a:lnSpc>
              <a:buFont typeface="Arial"/>
              <a:buChar char="•"/>
            </a:pPr>
            <a:r>
              <a:rPr lang="en-US" sz="2200">
                <a:solidFill>
                  <a:srgbClr val="405449"/>
                </a:solidFill>
                <a:latin typeface="Arimo"/>
                <a:ea typeface="Arimo"/>
                <a:cs typeface="Arimo"/>
                <a:sym typeface="Arimo"/>
              </a:rPr>
              <a:t>ratio_ensoleillement = ensoleillement_h / duree_jour_h (couverture nuageuse)</a:t>
            </a:r>
          </a:p>
        </p:txBody>
      </p:sp>
      <p:sp>
        <p:nvSpPr>
          <p:cNvPr name="TextBox 9" id="9"/>
          <p:cNvSpPr txBox="true"/>
          <p:nvPr/>
        </p:nvSpPr>
        <p:spPr>
          <a:xfrm rot="0">
            <a:off x="992238" y="7191375"/>
            <a:ext cx="7805890" cy="1097756"/>
          </a:xfrm>
          <a:prstGeom prst="rect">
            <a:avLst/>
          </a:prstGeom>
        </p:spPr>
        <p:txBody>
          <a:bodyPr anchor="t" rtlCol="false" tIns="0" lIns="0" bIns="0" rIns="0">
            <a:spAutoFit/>
          </a:bodyPr>
          <a:lstStyle/>
          <a:p>
            <a:pPr algn="l">
              <a:lnSpc>
                <a:spcPts val="3511"/>
              </a:lnSpc>
            </a:pPr>
            <a:r>
              <a:rPr lang="en-US" sz="2200">
                <a:solidFill>
                  <a:srgbClr val="405449"/>
                </a:solidFill>
                <a:latin typeface="Consolas"/>
                <a:ea typeface="Consolas"/>
                <a:cs typeface="Consolas"/>
                <a:sym typeface="Consolas"/>
              </a:rPr>
              <a:t>Interactions saisonnières : saison_Hiver × pluie_lag1 ≠ saison_Été × pluie_lag1</a:t>
            </a:r>
          </a:p>
        </p:txBody>
      </p:sp>
      <p:sp>
        <p:nvSpPr>
          <p:cNvPr name="TextBox 10" id="10"/>
          <p:cNvSpPr txBox="true"/>
          <p:nvPr/>
        </p:nvSpPr>
        <p:spPr>
          <a:xfrm rot="0">
            <a:off x="9499406" y="3327949"/>
            <a:ext cx="6097934" cy="452437"/>
          </a:xfrm>
          <a:prstGeom prst="rect">
            <a:avLst/>
          </a:prstGeom>
        </p:spPr>
        <p:txBody>
          <a:bodyPr anchor="t" rtlCol="false" tIns="0" lIns="0" bIns="0" rIns="0">
            <a:spAutoFit/>
          </a:bodyPr>
          <a:lstStyle/>
          <a:p>
            <a:pPr algn="l">
              <a:lnSpc>
                <a:spcPts val="3369"/>
              </a:lnSpc>
            </a:pPr>
            <a:r>
              <a:rPr lang="en-US" sz="2700">
                <a:solidFill>
                  <a:srgbClr val="3B4540"/>
                </a:solidFill>
                <a:latin typeface="Fraunces"/>
                <a:ea typeface="Fraunces"/>
                <a:cs typeface="Fraunces"/>
                <a:sym typeface="Fraunces"/>
              </a:rPr>
              <a:t>Encodage Cyclique du Temps</a:t>
            </a:r>
          </a:p>
        </p:txBody>
      </p:sp>
      <p:sp>
        <p:nvSpPr>
          <p:cNvPr name="TextBox 11" id="11"/>
          <p:cNvSpPr txBox="true"/>
          <p:nvPr/>
        </p:nvSpPr>
        <p:spPr>
          <a:xfrm rot="0">
            <a:off x="9499406" y="3959123"/>
            <a:ext cx="7805890" cy="2911669"/>
          </a:xfrm>
          <a:prstGeom prst="rect">
            <a:avLst/>
          </a:prstGeom>
        </p:spPr>
        <p:txBody>
          <a:bodyPr anchor="t" rtlCol="false" tIns="0" lIns="0" bIns="0" rIns="0">
            <a:spAutoFit/>
          </a:bodyPr>
          <a:lstStyle/>
          <a:p>
            <a:pPr algn="l">
              <a:lnSpc>
                <a:spcPts val="3511"/>
              </a:lnSpc>
            </a:pPr>
            <a:r>
              <a:rPr lang="en-US" sz="2200" b="true">
                <a:solidFill>
                  <a:srgbClr val="405449"/>
                </a:solidFill>
                <a:latin typeface="Arimo Bold"/>
                <a:ea typeface="Arimo Bold"/>
                <a:cs typeface="Arimo Bold"/>
                <a:sym typeface="Arimo Bold"/>
              </a:rPr>
              <a:t>Problème :</a:t>
            </a:r>
            <a:r>
              <a:rPr lang="en-US" sz="2200">
                <a:solidFill>
                  <a:srgbClr val="405449"/>
                </a:solidFill>
                <a:latin typeface="Arimo"/>
                <a:ea typeface="Arimo"/>
                <a:cs typeface="Arimo"/>
                <a:sym typeface="Arimo"/>
              </a:rPr>
              <a:t> Décembre (12) et Janvier (1) semblent éloignés de 11, alors qu'ils sont voisins.</a:t>
            </a:r>
          </a:p>
          <a:p>
            <a:pPr algn="l">
              <a:lnSpc>
                <a:spcPts val="3511"/>
              </a:lnSpc>
            </a:pPr>
            <a:r>
              <a:rPr lang="en-US" sz="2200" b="true">
                <a:solidFill>
                  <a:srgbClr val="405449"/>
                </a:solidFill>
                <a:latin typeface="Consolas Bold"/>
                <a:ea typeface="Consolas Bold"/>
                <a:cs typeface="Consolas Bold"/>
                <a:sym typeface="Consolas Bold"/>
              </a:rPr>
              <a:t>Solution :</a:t>
            </a:r>
            <a:r>
              <a:rPr lang="en-US" sz="2200">
                <a:solidFill>
                  <a:srgbClr val="405449"/>
                </a:solidFill>
                <a:latin typeface="Consolas"/>
                <a:ea typeface="Consolas"/>
                <a:cs typeface="Consolas"/>
                <a:sym typeface="Consolas"/>
              </a:rPr>
              <a:t> sin(2π × mois / 12) et cos(2π × mois / 12)</a:t>
            </a:r>
          </a:p>
          <a:p>
            <a:pPr algn="l">
              <a:lnSpc>
                <a:spcPts val="3511"/>
              </a:lnSpc>
            </a:pPr>
            <a:r>
              <a:rPr lang="en-US" sz="2200">
                <a:solidFill>
                  <a:srgbClr val="405449"/>
                </a:solidFill>
                <a:latin typeface="Arimo"/>
                <a:ea typeface="Arimo"/>
                <a:cs typeface="Arimo"/>
                <a:sym typeface="Arimo"/>
              </a:rPr>
              <a:t>Projection sur un cercle : Décembre et Janvier redeviennent proches.</a:t>
            </a:r>
          </a:p>
        </p:txBody>
      </p:sp>
      <p:sp>
        <p:nvSpPr>
          <p:cNvPr name="TextBox 12" id="12"/>
          <p:cNvSpPr txBox="true"/>
          <p:nvPr/>
        </p:nvSpPr>
        <p:spPr>
          <a:xfrm rot="0">
            <a:off x="17259300" y="9201150"/>
            <a:ext cx="152400" cy="209550"/>
          </a:xfrm>
          <a:prstGeom prst="rect">
            <a:avLst/>
          </a:prstGeom>
        </p:spPr>
        <p:txBody>
          <a:bodyPr anchor="t" rtlCol="false" tIns="0" lIns="0" bIns="0" rIns="0" wrap="none">
            <a:spAutoFit/>
          </a:bodyPr>
          <a:lstStyle/>
          <a:p>
            <a:pPr algn="ctr">
              <a:lnSpc>
                <a:spcPts val="3639"/>
              </a:lnSpc>
              <a:spcBef>
                <a:spcPct val="0"/>
              </a:spcBef>
            </a:pPr>
            <a:r>
              <a:rPr lang="en-US" sz="2599">
                <a:solidFill>
                  <a:srgbClr val="000000"/>
                </a:solidFill>
                <a:latin typeface="Open Sans"/>
                <a:ea typeface="Open Sans"/>
                <a:cs typeface="Open Sans"/>
                <a:sym typeface="Open San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EEE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FFA"/>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7741739" y="746970"/>
            <a:ext cx="9662522" cy="1606753"/>
          </a:xfrm>
          <a:prstGeom prst="rect">
            <a:avLst/>
          </a:prstGeom>
        </p:spPr>
        <p:txBody>
          <a:bodyPr anchor="t" rtlCol="false" tIns="0" lIns="0" bIns="0" rIns="0">
            <a:spAutoFit/>
          </a:bodyPr>
          <a:lstStyle/>
          <a:p>
            <a:pPr algn="l">
              <a:lnSpc>
                <a:spcPts val="6115"/>
              </a:lnSpc>
            </a:pPr>
            <a:r>
              <a:rPr lang="en-US" sz="4900">
                <a:solidFill>
                  <a:srgbClr val="3B4540"/>
                </a:solidFill>
                <a:latin typeface="Fraunces"/>
                <a:ea typeface="Fraunces"/>
                <a:cs typeface="Fraunces"/>
                <a:sym typeface="Fraunces"/>
              </a:rPr>
              <a:t>Feature Learning : Vue d'ensemble</a:t>
            </a:r>
          </a:p>
        </p:txBody>
      </p:sp>
      <p:sp>
        <p:nvSpPr>
          <p:cNvPr name="TextBox 9" id="9"/>
          <p:cNvSpPr txBox="true"/>
          <p:nvPr/>
        </p:nvSpPr>
        <p:spPr>
          <a:xfrm rot="0">
            <a:off x="7741739" y="2624290"/>
            <a:ext cx="9662522" cy="1622822"/>
          </a:xfrm>
          <a:prstGeom prst="rect">
            <a:avLst/>
          </a:prstGeom>
        </p:spPr>
        <p:txBody>
          <a:bodyPr anchor="t" rtlCol="false" tIns="0" lIns="0" bIns="0" rIns="0">
            <a:spAutoFit/>
          </a:bodyPr>
          <a:lstStyle/>
          <a:p>
            <a:pPr algn="l">
              <a:lnSpc>
                <a:spcPts val="2872"/>
              </a:lnSpc>
            </a:pPr>
            <a:r>
              <a:rPr lang="en-US" sz="1900">
                <a:solidFill>
                  <a:srgbClr val="405449"/>
                </a:solidFill>
                <a:latin typeface="Arimo"/>
                <a:ea typeface="Arimo"/>
                <a:cs typeface="Arimo"/>
                <a:sym typeface="Arimo"/>
              </a:rPr>
              <a:t>L'ingénierie manuelle encode ce que l'on comprend de la physique, mais les données contiennent des structures complexes, non formalisables explicitement. Solution : le </a:t>
            </a:r>
            <a:r>
              <a:rPr lang="en-US" sz="1900" b="true">
                <a:solidFill>
                  <a:srgbClr val="405449"/>
                </a:solidFill>
                <a:latin typeface="Arimo Bold"/>
                <a:ea typeface="Arimo Bold"/>
                <a:cs typeface="Arimo Bold"/>
                <a:sym typeface="Arimo Bold"/>
              </a:rPr>
              <a:t>Feature Learning</a:t>
            </a:r>
            <a:r>
              <a:rPr lang="en-US" sz="1900">
                <a:solidFill>
                  <a:srgbClr val="405449"/>
                </a:solidFill>
                <a:latin typeface="Arimo"/>
                <a:ea typeface="Arimo"/>
                <a:cs typeface="Arimo"/>
                <a:sym typeface="Arimo"/>
              </a:rPr>
              <a:t> — laisser des réseaux de neurones découvrir automatiquement des représentations utiles (feature_learning.py).</a:t>
            </a:r>
          </a:p>
        </p:txBody>
      </p:sp>
      <p:sp>
        <p:nvSpPr>
          <p:cNvPr name="Freeform 10" id="10" descr="preencoded.png"/>
          <p:cNvSpPr/>
          <p:nvPr/>
        </p:nvSpPr>
        <p:spPr>
          <a:xfrm flipH="false" flipV="false" rot="0">
            <a:off x="7741739" y="4500115"/>
            <a:ext cx="4718742" cy="2584104"/>
          </a:xfrm>
          <a:custGeom>
            <a:avLst/>
            <a:gdLst/>
            <a:ahLst/>
            <a:cxnLst/>
            <a:rect r="r" b="b" t="t" l="l"/>
            <a:pathLst>
              <a:path h="2584104" w="4718742">
                <a:moveTo>
                  <a:pt x="0" y="0"/>
                </a:moveTo>
                <a:lnTo>
                  <a:pt x="4718742" y="0"/>
                </a:lnTo>
                <a:lnTo>
                  <a:pt x="4718742" y="2584104"/>
                </a:lnTo>
                <a:lnTo>
                  <a:pt x="0" y="2584104"/>
                </a:lnTo>
                <a:lnTo>
                  <a:pt x="0" y="0"/>
                </a:lnTo>
                <a:close/>
              </a:path>
            </a:pathLst>
          </a:custGeom>
          <a:blipFill>
            <a:blip r:embed="rId4">
              <a:extLst>
                <a:ext uri="{96DAC541-7B7A-43D3-8B79-37D633B846F1}">
                  <asvg:svgBlip xmlns:asvg="http://schemas.microsoft.com/office/drawing/2016/SVG/main" r:embed="rId5"/>
                </a:ext>
              </a:extLst>
            </a:blip>
            <a:stretch>
              <a:fillRect l="0" t="-69" r="0" b="-69"/>
            </a:stretch>
          </a:blipFill>
        </p:spPr>
      </p:sp>
      <p:grpSp>
        <p:nvGrpSpPr>
          <p:cNvPr name="Group 11" id="11"/>
          <p:cNvGrpSpPr/>
          <p:nvPr/>
        </p:nvGrpSpPr>
        <p:grpSpPr>
          <a:xfrm rot="0">
            <a:off x="9949605" y="4689424"/>
            <a:ext cx="303009" cy="378771"/>
            <a:chOff x="0" y="0"/>
            <a:chExt cx="404012" cy="505028"/>
          </a:xfrm>
        </p:grpSpPr>
        <p:sp>
          <p:nvSpPr>
            <p:cNvPr name="Freeform 12" id="12"/>
            <p:cNvSpPr/>
            <p:nvPr/>
          </p:nvSpPr>
          <p:spPr>
            <a:xfrm flipH="false" flipV="false" rot="0">
              <a:off x="0" y="0"/>
              <a:ext cx="404019" cy="505024"/>
            </a:xfrm>
            <a:custGeom>
              <a:avLst/>
              <a:gdLst/>
              <a:ahLst/>
              <a:cxnLst/>
              <a:rect r="r" b="b" t="t" l="l"/>
              <a:pathLst>
                <a:path h="505024" w="404019">
                  <a:moveTo>
                    <a:pt x="0" y="0"/>
                  </a:moveTo>
                  <a:lnTo>
                    <a:pt x="404019" y="0"/>
                  </a:lnTo>
                  <a:lnTo>
                    <a:pt x="404019" y="505024"/>
                  </a:lnTo>
                  <a:lnTo>
                    <a:pt x="0" y="505024"/>
                  </a:lnTo>
                  <a:close/>
                </a:path>
              </a:pathLst>
            </a:custGeom>
            <a:blipFill>
              <a:blip r:embed="rId6">
                <a:alphaModFix amt="0"/>
              </a:blip>
              <a:stretch>
                <a:fillRect l="-110381" t="0" r="-110380" b="0"/>
              </a:stretch>
            </a:blipFill>
          </p:spPr>
        </p:sp>
        <p:sp>
          <p:nvSpPr>
            <p:cNvPr name="TextBox 13" id="13"/>
            <p:cNvSpPr txBox="true"/>
            <p:nvPr/>
          </p:nvSpPr>
          <p:spPr>
            <a:xfrm>
              <a:off x="0" y="0"/>
              <a:ext cx="404012" cy="505028"/>
            </a:xfrm>
            <a:prstGeom prst="rect">
              <a:avLst/>
            </a:prstGeom>
          </p:spPr>
          <p:txBody>
            <a:bodyPr anchor="ctr" rtlCol="false" tIns="0" lIns="0" bIns="0" rIns="0"/>
            <a:lstStyle/>
            <a:p>
              <a:pPr algn="ctr">
                <a:lnSpc>
                  <a:spcPts val="2760"/>
                </a:lnSpc>
              </a:pPr>
              <a:r>
                <a:rPr lang="en-US" sz="2300">
                  <a:solidFill>
                    <a:srgbClr val="FFFFFF"/>
                  </a:solidFill>
                  <a:latin typeface="Fraunces"/>
                  <a:ea typeface="Fraunces"/>
                  <a:cs typeface="Fraunces"/>
                  <a:sym typeface="Fraunces"/>
                </a:rPr>
                <a:t>1</a:t>
              </a:r>
            </a:p>
          </p:txBody>
        </p:sp>
      </p:grpSp>
      <p:sp>
        <p:nvSpPr>
          <p:cNvPr name="TextBox 14" id="14"/>
          <p:cNvSpPr txBox="true"/>
          <p:nvPr/>
        </p:nvSpPr>
        <p:spPr>
          <a:xfrm rot="0">
            <a:off x="8022727" y="5510060"/>
            <a:ext cx="3156499" cy="394545"/>
          </a:xfrm>
          <a:prstGeom prst="rect">
            <a:avLst/>
          </a:prstGeom>
        </p:spPr>
        <p:txBody>
          <a:bodyPr anchor="t" rtlCol="false" tIns="0" lIns="0" bIns="0" rIns="0">
            <a:spAutoFit/>
          </a:bodyPr>
          <a:lstStyle/>
          <a:p>
            <a:pPr algn="l">
              <a:lnSpc>
                <a:spcPts val="2995"/>
              </a:lnSpc>
            </a:pPr>
            <a:r>
              <a:rPr lang="en-US" sz="2400">
                <a:solidFill>
                  <a:srgbClr val="405449"/>
                </a:solidFill>
                <a:latin typeface="Fraunces"/>
                <a:ea typeface="Fraunces"/>
                <a:cs typeface="Fraunces"/>
                <a:sym typeface="Fraunces"/>
              </a:rPr>
              <a:t>PCA</a:t>
            </a:r>
          </a:p>
        </p:txBody>
      </p:sp>
      <p:sp>
        <p:nvSpPr>
          <p:cNvPr name="TextBox 15" id="15"/>
          <p:cNvSpPr txBox="true"/>
          <p:nvPr/>
        </p:nvSpPr>
        <p:spPr>
          <a:xfrm rot="0">
            <a:off x="8022727" y="5972775"/>
            <a:ext cx="4156767" cy="448570"/>
          </a:xfrm>
          <a:prstGeom prst="rect">
            <a:avLst/>
          </a:prstGeom>
        </p:spPr>
        <p:txBody>
          <a:bodyPr anchor="t" rtlCol="false" tIns="0" lIns="0" bIns="0" rIns="0">
            <a:spAutoFit/>
          </a:bodyPr>
          <a:lstStyle/>
          <a:p>
            <a:pPr algn="l">
              <a:lnSpc>
                <a:spcPts val="2872"/>
              </a:lnSpc>
            </a:pPr>
            <a:r>
              <a:rPr lang="en-US" sz="1900">
                <a:solidFill>
                  <a:srgbClr val="405449"/>
                </a:solidFill>
                <a:latin typeface="Arimo"/>
                <a:ea typeface="Arimo"/>
                <a:cs typeface="Arimo"/>
                <a:sym typeface="Arimo"/>
              </a:rPr>
              <a:t>Débruitage des variables corrélées</a:t>
            </a:r>
          </a:p>
        </p:txBody>
      </p:sp>
      <p:sp>
        <p:nvSpPr>
          <p:cNvPr name="Freeform 16" id="16" descr="preencoded.png"/>
          <p:cNvSpPr/>
          <p:nvPr/>
        </p:nvSpPr>
        <p:spPr>
          <a:xfrm flipH="false" flipV="false" rot="0">
            <a:off x="12685366" y="4500115"/>
            <a:ext cx="4718895" cy="2584104"/>
          </a:xfrm>
          <a:custGeom>
            <a:avLst/>
            <a:gdLst/>
            <a:ahLst/>
            <a:cxnLst/>
            <a:rect r="r" b="b" t="t" l="l"/>
            <a:pathLst>
              <a:path h="2584104" w="4718895">
                <a:moveTo>
                  <a:pt x="0" y="0"/>
                </a:moveTo>
                <a:lnTo>
                  <a:pt x="4718895" y="0"/>
                </a:lnTo>
                <a:lnTo>
                  <a:pt x="4718895" y="2584104"/>
                </a:lnTo>
                <a:lnTo>
                  <a:pt x="0" y="2584104"/>
                </a:lnTo>
                <a:lnTo>
                  <a:pt x="0" y="0"/>
                </a:lnTo>
                <a:close/>
              </a:path>
            </a:pathLst>
          </a:custGeom>
          <a:blipFill>
            <a:blip r:embed="rId4">
              <a:extLst>
                <a:ext uri="{96DAC541-7B7A-43D3-8B79-37D633B846F1}">
                  <asvg:svgBlip xmlns:asvg="http://schemas.microsoft.com/office/drawing/2016/SVG/main" r:embed="rId5"/>
                </a:ext>
              </a:extLst>
            </a:blip>
            <a:stretch>
              <a:fillRect l="0" t="-71" r="0" b="-71"/>
            </a:stretch>
          </a:blipFill>
        </p:spPr>
      </p:sp>
      <p:grpSp>
        <p:nvGrpSpPr>
          <p:cNvPr name="Group 17" id="17"/>
          <p:cNvGrpSpPr/>
          <p:nvPr/>
        </p:nvGrpSpPr>
        <p:grpSpPr>
          <a:xfrm rot="0">
            <a:off x="14893233" y="4689424"/>
            <a:ext cx="303009" cy="378771"/>
            <a:chOff x="0" y="0"/>
            <a:chExt cx="404012" cy="505028"/>
          </a:xfrm>
        </p:grpSpPr>
        <p:sp>
          <p:nvSpPr>
            <p:cNvPr name="Freeform 18" id="18"/>
            <p:cNvSpPr/>
            <p:nvPr/>
          </p:nvSpPr>
          <p:spPr>
            <a:xfrm flipH="false" flipV="false" rot="0">
              <a:off x="0" y="0"/>
              <a:ext cx="404019" cy="505024"/>
            </a:xfrm>
            <a:custGeom>
              <a:avLst/>
              <a:gdLst/>
              <a:ahLst/>
              <a:cxnLst/>
              <a:rect r="r" b="b" t="t" l="l"/>
              <a:pathLst>
                <a:path h="505024" w="404019">
                  <a:moveTo>
                    <a:pt x="0" y="0"/>
                  </a:moveTo>
                  <a:lnTo>
                    <a:pt x="404019" y="0"/>
                  </a:lnTo>
                  <a:lnTo>
                    <a:pt x="404019" y="505024"/>
                  </a:lnTo>
                  <a:lnTo>
                    <a:pt x="0" y="505024"/>
                  </a:lnTo>
                  <a:close/>
                </a:path>
              </a:pathLst>
            </a:custGeom>
            <a:blipFill>
              <a:blip r:embed="rId6">
                <a:alphaModFix amt="0"/>
              </a:blip>
              <a:stretch>
                <a:fillRect l="-110381" t="0" r="-110380" b="0"/>
              </a:stretch>
            </a:blipFill>
          </p:spPr>
        </p:sp>
        <p:sp>
          <p:nvSpPr>
            <p:cNvPr name="TextBox 19" id="19"/>
            <p:cNvSpPr txBox="true"/>
            <p:nvPr/>
          </p:nvSpPr>
          <p:spPr>
            <a:xfrm>
              <a:off x="0" y="0"/>
              <a:ext cx="404012" cy="505028"/>
            </a:xfrm>
            <a:prstGeom prst="rect">
              <a:avLst/>
            </a:prstGeom>
          </p:spPr>
          <p:txBody>
            <a:bodyPr anchor="ctr" rtlCol="false" tIns="0" lIns="0" bIns="0" rIns="0"/>
            <a:lstStyle/>
            <a:p>
              <a:pPr algn="ctr">
                <a:lnSpc>
                  <a:spcPts val="2760"/>
                </a:lnSpc>
              </a:pPr>
              <a:r>
                <a:rPr lang="en-US" sz="2300">
                  <a:solidFill>
                    <a:srgbClr val="FFFFFF"/>
                  </a:solidFill>
                  <a:latin typeface="Fraunces"/>
                  <a:ea typeface="Fraunces"/>
                  <a:cs typeface="Fraunces"/>
                  <a:sym typeface="Fraunces"/>
                </a:rPr>
                <a:t>2</a:t>
              </a:r>
            </a:p>
          </p:txBody>
        </p:sp>
      </p:grpSp>
      <p:sp>
        <p:nvSpPr>
          <p:cNvPr name="TextBox 20" id="20"/>
          <p:cNvSpPr txBox="true"/>
          <p:nvPr/>
        </p:nvSpPr>
        <p:spPr>
          <a:xfrm rot="0">
            <a:off x="12966354" y="5510060"/>
            <a:ext cx="3156499" cy="394545"/>
          </a:xfrm>
          <a:prstGeom prst="rect">
            <a:avLst/>
          </a:prstGeom>
        </p:spPr>
        <p:txBody>
          <a:bodyPr anchor="t" rtlCol="false" tIns="0" lIns="0" bIns="0" rIns="0">
            <a:spAutoFit/>
          </a:bodyPr>
          <a:lstStyle/>
          <a:p>
            <a:pPr algn="l">
              <a:lnSpc>
                <a:spcPts val="2995"/>
              </a:lnSpc>
            </a:pPr>
            <a:r>
              <a:rPr lang="en-US" sz="2400">
                <a:solidFill>
                  <a:srgbClr val="405449"/>
                </a:solidFill>
                <a:latin typeface="Fraunces"/>
                <a:ea typeface="Fraunces"/>
                <a:cs typeface="Fraunces"/>
                <a:sym typeface="Fraunces"/>
              </a:rPr>
              <a:t>Autoencodeur</a:t>
            </a:r>
          </a:p>
        </p:txBody>
      </p:sp>
      <p:sp>
        <p:nvSpPr>
          <p:cNvPr name="TextBox 21" id="21"/>
          <p:cNvSpPr txBox="true"/>
          <p:nvPr/>
        </p:nvSpPr>
        <p:spPr>
          <a:xfrm rot="0">
            <a:off x="12966354" y="5972775"/>
            <a:ext cx="4156920" cy="830466"/>
          </a:xfrm>
          <a:prstGeom prst="rect">
            <a:avLst/>
          </a:prstGeom>
        </p:spPr>
        <p:txBody>
          <a:bodyPr anchor="t" rtlCol="false" tIns="0" lIns="0" bIns="0" rIns="0">
            <a:spAutoFit/>
          </a:bodyPr>
          <a:lstStyle/>
          <a:p>
            <a:pPr algn="l">
              <a:lnSpc>
                <a:spcPts val="2872"/>
              </a:lnSpc>
            </a:pPr>
            <a:r>
              <a:rPr lang="en-US" sz="1900">
                <a:solidFill>
                  <a:srgbClr val="405449"/>
                </a:solidFill>
                <a:latin typeface="Arimo"/>
                <a:ea typeface="Arimo"/>
                <a:cs typeface="Arimo"/>
                <a:sym typeface="Arimo"/>
              </a:rPr>
              <a:t>Représentation compressée de chaque journée</a:t>
            </a:r>
          </a:p>
        </p:txBody>
      </p:sp>
      <p:sp>
        <p:nvSpPr>
          <p:cNvPr name="Freeform 22" id="22" descr="preencoded.png"/>
          <p:cNvSpPr/>
          <p:nvPr/>
        </p:nvSpPr>
        <p:spPr>
          <a:xfrm flipH="false" flipV="false" rot="0">
            <a:off x="7741739" y="7309094"/>
            <a:ext cx="9662522" cy="2202209"/>
          </a:xfrm>
          <a:custGeom>
            <a:avLst/>
            <a:gdLst/>
            <a:ahLst/>
            <a:cxnLst/>
            <a:rect r="r" b="b" t="t" l="l"/>
            <a:pathLst>
              <a:path h="2202209" w="9662522">
                <a:moveTo>
                  <a:pt x="0" y="0"/>
                </a:moveTo>
                <a:lnTo>
                  <a:pt x="9662522" y="0"/>
                </a:lnTo>
                <a:lnTo>
                  <a:pt x="9662522" y="2202209"/>
                </a:lnTo>
                <a:lnTo>
                  <a:pt x="0" y="2202209"/>
                </a:lnTo>
                <a:lnTo>
                  <a:pt x="0" y="0"/>
                </a:lnTo>
                <a:close/>
              </a:path>
            </a:pathLst>
          </a:custGeom>
          <a:blipFill>
            <a:blip r:embed="rId7">
              <a:extLst>
                <a:ext uri="{96DAC541-7B7A-43D3-8B79-37D633B846F1}">
                  <asvg:svgBlip xmlns:asvg="http://schemas.microsoft.com/office/drawing/2016/SVG/main" r:embed="rId8"/>
                </a:ext>
              </a:extLst>
            </a:blip>
            <a:stretch>
              <a:fillRect l="0" t="-144" r="0" b="-144"/>
            </a:stretch>
          </a:blipFill>
        </p:spPr>
      </p:sp>
      <p:grpSp>
        <p:nvGrpSpPr>
          <p:cNvPr name="Group 23" id="23"/>
          <p:cNvGrpSpPr/>
          <p:nvPr/>
        </p:nvGrpSpPr>
        <p:grpSpPr>
          <a:xfrm rot="0">
            <a:off x="12421495" y="7498404"/>
            <a:ext cx="303009" cy="378771"/>
            <a:chOff x="0" y="0"/>
            <a:chExt cx="404012" cy="505028"/>
          </a:xfrm>
        </p:grpSpPr>
        <p:sp>
          <p:nvSpPr>
            <p:cNvPr name="Freeform 24" id="24"/>
            <p:cNvSpPr/>
            <p:nvPr/>
          </p:nvSpPr>
          <p:spPr>
            <a:xfrm flipH="false" flipV="false" rot="0">
              <a:off x="0" y="0"/>
              <a:ext cx="404019" cy="505024"/>
            </a:xfrm>
            <a:custGeom>
              <a:avLst/>
              <a:gdLst/>
              <a:ahLst/>
              <a:cxnLst/>
              <a:rect r="r" b="b" t="t" l="l"/>
              <a:pathLst>
                <a:path h="505024" w="404019">
                  <a:moveTo>
                    <a:pt x="0" y="0"/>
                  </a:moveTo>
                  <a:lnTo>
                    <a:pt x="404019" y="0"/>
                  </a:lnTo>
                  <a:lnTo>
                    <a:pt x="404019" y="505024"/>
                  </a:lnTo>
                  <a:lnTo>
                    <a:pt x="0" y="505024"/>
                  </a:lnTo>
                  <a:close/>
                </a:path>
              </a:pathLst>
            </a:custGeom>
            <a:blipFill>
              <a:blip r:embed="rId6">
                <a:alphaModFix amt="0"/>
              </a:blip>
              <a:stretch>
                <a:fillRect l="-110381" t="0" r="-110380" b="0"/>
              </a:stretch>
            </a:blipFill>
          </p:spPr>
        </p:sp>
        <p:sp>
          <p:nvSpPr>
            <p:cNvPr name="TextBox 25" id="25"/>
            <p:cNvSpPr txBox="true"/>
            <p:nvPr/>
          </p:nvSpPr>
          <p:spPr>
            <a:xfrm>
              <a:off x="0" y="0"/>
              <a:ext cx="404012" cy="505028"/>
            </a:xfrm>
            <a:prstGeom prst="rect">
              <a:avLst/>
            </a:prstGeom>
          </p:spPr>
          <p:txBody>
            <a:bodyPr anchor="ctr" rtlCol="false" tIns="0" lIns="0" bIns="0" rIns="0"/>
            <a:lstStyle/>
            <a:p>
              <a:pPr algn="ctr">
                <a:lnSpc>
                  <a:spcPts val="2760"/>
                </a:lnSpc>
              </a:pPr>
              <a:r>
                <a:rPr lang="en-US" sz="2300">
                  <a:solidFill>
                    <a:srgbClr val="FFFFFF"/>
                  </a:solidFill>
                  <a:latin typeface="Fraunces"/>
                  <a:ea typeface="Fraunces"/>
                  <a:cs typeface="Fraunces"/>
                  <a:sym typeface="Fraunces"/>
                </a:rPr>
                <a:t>3</a:t>
              </a:r>
            </a:p>
          </p:txBody>
        </p:sp>
      </p:grpSp>
      <p:sp>
        <p:nvSpPr>
          <p:cNvPr name="TextBox 26" id="26"/>
          <p:cNvSpPr txBox="true"/>
          <p:nvPr/>
        </p:nvSpPr>
        <p:spPr>
          <a:xfrm rot="0">
            <a:off x="8022727" y="8319049"/>
            <a:ext cx="3156499" cy="394545"/>
          </a:xfrm>
          <a:prstGeom prst="rect">
            <a:avLst/>
          </a:prstGeom>
        </p:spPr>
        <p:txBody>
          <a:bodyPr anchor="t" rtlCol="false" tIns="0" lIns="0" bIns="0" rIns="0">
            <a:spAutoFit/>
          </a:bodyPr>
          <a:lstStyle/>
          <a:p>
            <a:pPr algn="l">
              <a:lnSpc>
                <a:spcPts val="2995"/>
              </a:lnSpc>
            </a:pPr>
            <a:r>
              <a:rPr lang="en-US" sz="2400">
                <a:solidFill>
                  <a:srgbClr val="405449"/>
                </a:solidFill>
                <a:latin typeface="Fraunces"/>
                <a:ea typeface="Fraunces"/>
                <a:cs typeface="Fraunces"/>
                <a:sym typeface="Fraunces"/>
              </a:rPr>
              <a:t>LSTM</a:t>
            </a:r>
          </a:p>
        </p:txBody>
      </p:sp>
      <p:sp>
        <p:nvSpPr>
          <p:cNvPr name="TextBox 27" id="27"/>
          <p:cNvSpPr txBox="true"/>
          <p:nvPr/>
        </p:nvSpPr>
        <p:spPr>
          <a:xfrm rot="0">
            <a:off x="8022727" y="8781755"/>
            <a:ext cx="9100537" cy="448570"/>
          </a:xfrm>
          <a:prstGeom prst="rect">
            <a:avLst/>
          </a:prstGeom>
        </p:spPr>
        <p:txBody>
          <a:bodyPr anchor="t" rtlCol="false" tIns="0" lIns="0" bIns="0" rIns="0">
            <a:spAutoFit/>
          </a:bodyPr>
          <a:lstStyle/>
          <a:p>
            <a:pPr algn="l">
              <a:lnSpc>
                <a:spcPts val="2872"/>
              </a:lnSpc>
            </a:pPr>
            <a:r>
              <a:rPr lang="en-US" sz="1900">
                <a:solidFill>
                  <a:srgbClr val="405449"/>
                </a:solidFill>
                <a:latin typeface="Arimo"/>
                <a:ea typeface="Arimo"/>
                <a:cs typeface="Arimo"/>
                <a:sym typeface="Arimo"/>
              </a:rPr>
              <a:t>Dynamique temporelle sur fenêtre glissante de 14 jours</a:t>
            </a:r>
          </a:p>
        </p:txBody>
      </p:sp>
      <p:sp>
        <p:nvSpPr>
          <p:cNvPr name="TextBox 28" id="28"/>
          <p:cNvSpPr txBox="true"/>
          <p:nvPr/>
        </p:nvSpPr>
        <p:spPr>
          <a:xfrm rot="0">
            <a:off x="17259300" y="9201150"/>
            <a:ext cx="152400" cy="209550"/>
          </a:xfrm>
          <a:prstGeom prst="rect">
            <a:avLst/>
          </a:prstGeom>
        </p:spPr>
        <p:txBody>
          <a:bodyPr anchor="t" rtlCol="false" tIns="0" lIns="0" bIns="0" rIns="0" wrap="none">
            <a:spAutoFit/>
          </a:bodyPr>
          <a:lstStyle/>
          <a:p>
            <a:pPr algn="ctr">
              <a:lnSpc>
                <a:spcPts val="3639"/>
              </a:lnSpc>
              <a:spcBef>
                <a:spcPct val="0"/>
              </a:spcBef>
            </a:pPr>
            <a:r>
              <a:rPr lang="en-US" sz="2599">
                <a:solidFill>
                  <a:srgbClr val="000000"/>
                </a:solidFill>
                <a:latin typeface="Open Sans"/>
                <a:ea typeface="Open Sans"/>
                <a:cs typeface="Open Sans"/>
                <a:sym typeface="Open San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EEE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FFA"/>
            </a:solidFill>
          </p:spPr>
        </p:sp>
      </p:grpSp>
      <p:sp>
        <p:nvSpPr>
          <p:cNvPr name="TextBox 6" id="6"/>
          <p:cNvSpPr txBox="true"/>
          <p:nvPr/>
        </p:nvSpPr>
        <p:spPr>
          <a:xfrm rot="0">
            <a:off x="1348978" y="684019"/>
            <a:ext cx="12291117" cy="715413"/>
          </a:xfrm>
          <a:prstGeom prst="rect">
            <a:avLst/>
          </a:prstGeom>
        </p:spPr>
        <p:txBody>
          <a:bodyPr anchor="t" rtlCol="false" tIns="0" lIns="0" bIns="0" rIns="0">
            <a:spAutoFit/>
          </a:bodyPr>
          <a:lstStyle/>
          <a:p>
            <a:pPr algn="l">
              <a:lnSpc>
                <a:spcPts val="5491"/>
              </a:lnSpc>
            </a:pPr>
            <a:r>
              <a:rPr lang="en-US" sz="4400">
                <a:solidFill>
                  <a:srgbClr val="3B4540"/>
                </a:solidFill>
                <a:latin typeface="Fraunces"/>
                <a:ea typeface="Fraunces"/>
                <a:cs typeface="Fraunces"/>
                <a:sym typeface="Fraunces"/>
              </a:rPr>
              <a:t>Feature Learning : PCA &amp; Autoencodeur</a:t>
            </a:r>
          </a:p>
        </p:txBody>
      </p:sp>
      <p:sp>
        <p:nvSpPr>
          <p:cNvPr name="TextBox 7" id="7"/>
          <p:cNvSpPr txBox="true"/>
          <p:nvPr/>
        </p:nvSpPr>
        <p:spPr>
          <a:xfrm rot="0">
            <a:off x="1348978" y="3422152"/>
            <a:ext cx="4955829" cy="362541"/>
          </a:xfrm>
          <a:prstGeom prst="rect">
            <a:avLst/>
          </a:prstGeom>
        </p:spPr>
        <p:txBody>
          <a:bodyPr anchor="t" rtlCol="false" tIns="0" lIns="0" bIns="0" rIns="0">
            <a:spAutoFit/>
          </a:bodyPr>
          <a:lstStyle/>
          <a:p>
            <a:pPr algn="l">
              <a:lnSpc>
                <a:spcPts val="2745"/>
              </a:lnSpc>
            </a:pPr>
            <a:r>
              <a:rPr lang="en-US" sz="2200">
                <a:solidFill>
                  <a:srgbClr val="3B4540"/>
                </a:solidFill>
                <a:latin typeface="Fraunces"/>
                <a:ea typeface="Fraunces"/>
                <a:cs typeface="Fraunces"/>
                <a:sym typeface="Fraunces"/>
              </a:rPr>
              <a:t>PCA sur l'Espace Thermique</a:t>
            </a:r>
          </a:p>
        </p:txBody>
      </p:sp>
      <p:sp>
        <p:nvSpPr>
          <p:cNvPr name="TextBox 8" id="8"/>
          <p:cNvSpPr txBox="true"/>
          <p:nvPr/>
        </p:nvSpPr>
        <p:spPr>
          <a:xfrm rot="0">
            <a:off x="1348978" y="3907479"/>
            <a:ext cx="7519245" cy="1059952"/>
          </a:xfrm>
          <a:prstGeom prst="rect">
            <a:avLst/>
          </a:prstGeom>
        </p:spPr>
        <p:txBody>
          <a:bodyPr anchor="t" rtlCol="false" tIns="0" lIns="0" bIns="0" rIns="0">
            <a:spAutoFit/>
          </a:bodyPr>
          <a:lstStyle/>
          <a:p>
            <a:pPr algn="l">
              <a:lnSpc>
                <a:spcPts val="2448"/>
              </a:lnSpc>
            </a:pPr>
            <a:r>
              <a:rPr lang="en-US" sz="1700">
                <a:solidFill>
                  <a:srgbClr val="405449"/>
                </a:solidFill>
                <a:latin typeface="Arimo"/>
                <a:ea typeface="Arimo"/>
                <a:cs typeface="Arimo"/>
                <a:sym typeface="Arimo"/>
              </a:rPr>
              <a:t>6 variables de température corrélées compressées en </a:t>
            </a:r>
            <a:r>
              <a:rPr lang="en-US" sz="1700" b="true">
                <a:solidFill>
                  <a:srgbClr val="405449"/>
                </a:solidFill>
                <a:latin typeface="Arimo Bold"/>
                <a:ea typeface="Arimo Bold"/>
                <a:cs typeface="Arimo Bold"/>
                <a:sym typeface="Arimo Bold"/>
              </a:rPr>
              <a:t>3 composantes indépendantes</a:t>
            </a:r>
            <a:r>
              <a:rPr lang="en-US" sz="1700">
                <a:solidFill>
                  <a:srgbClr val="405449"/>
                </a:solidFill>
                <a:latin typeface="Arimo"/>
                <a:ea typeface="Arimo"/>
                <a:cs typeface="Arimo"/>
                <a:sym typeface="Arimo"/>
              </a:rPr>
              <a:t> (pca_1, pca_2, pca_3). Fit uniquement sur le train (≤ 2022) pour éviter le leakage.</a:t>
            </a:r>
          </a:p>
        </p:txBody>
      </p:sp>
      <p:grpSp>
        <p:nvGrpSpPr>
          <p:cNvPr name="Group 9" id="9"/>
          <p:cNvGrpSpPr/>
          <p:nvPr/>
        </p:nvGrpSpPr>
        <p:grpSpPr>
          <a:xfrm rot="0">
            <a:off x="1348978" y="5226244"/>
            <a:ext cx="7519245" cy="16821"/>
            <a:chOff x="0" y="0"/>
            <a:chExt cx="10025659" cy="22428"/>
          </a:xfrm>
        </p:grpSpPr>
        <p:sp>
          <p:nvSpPr>
            <p:cNvPr name="Freeform 10" id="10"/>
            <p:cNvSpPr/>
            <p:nvPr/>
          </p:nvSpPr>
          <p:spPr>
            <a:xfrm flipH="false" flipV="false" rot="0">
              <a:off x="0" y="0"/>
              <a:ext cx="10025634" cy="22479"/>
            </a:xfrm>
            <a:custGeom>
              <a:avLst/>
              <a:gdLst/>
              <a:ahLst/>
              <a:cxnLst/>
              <a:rect r="r" b="b" t="t" l="l"/>
              <a:pathLst>
                <a:path h="22479" w="10025634">
                  <a:moveTo>
                    <a:pt x="0" y="0"/>
                  </a:moveTo>
                  <a:lnTo>
                    <a:pt x="10025634" y="0"/>
                  </a:lnTo>
                  <a:lnTo>
                    <a:pt x="10025634" y="22479"/>
                  </a:lnTo>
                  <a:lnTo>
                    <a:pt x="0" y="22479"/>
                  </a:lnTo>
                  <a:close/>
                </a:path>
              </a:pathLst>
            </a:custGeom>
            <a:solidFill>
              <a:srgbClr val="405449">
                <a:alpha val="24706"/>
              </a:srgbClr>
            </a:solidFill>
          </p:spPr>
        </p:sp>
      </p:grpSp>
      <p:sp>
        <p:nvSpPr>
          <p:cNvPr name="TextBox 11" id="11"/>
          <p:cNvSpPr txBox="true"/>
          <p:nvPr/>
        </p:nvSpPr>
        <p:spPr>
          <a:xfrm rot="0">
            <a:off x="1348978" y="5492353"/>
            <a:ext cx="5070872" cy="362541"/>
          </a:xfrm>
          <a:prstGeom prst="rect">
            <a:avLst/>
          </a:prstGeom>
        </p:spPr>
        <p:txBody>
          <a:bodyPr anchor="t" rtlCol="false" tIns="0" lIns="0" bIns="0" rIns="0">
            <a:spAutoFit/>
          </a:bodyPr>
          <a:lstStyle/>
          <a:p>
            <a:pPr algn="l">
              <a:lnSpc>
                <a:spcPts val="2745"/>
              </a:lnSpc>
            </a:pPr>
            <a:r>
              <a:rPr lang="en-US" sz="2200">
                <a:solidFill>
                  <a:srgbClr val="3B4540"/>
                </a:solidFill>
                <a:latin typeface="Fraunces"/>
                <a:ea typeface="Fraunces"/>
                <a:cs typeface="Fraunces"/>
                <a:sym typeface="Fraunces"/>
              </a:rPr>
              <a:t>Autoencodeur Non Supervisé</a:t>
            </a:r>
          </a:p>
        </p:txBody>
      </p:sp>
      <p:sp>
        <p:nvSpPr>
          <p:cNvPr name="TextBox 12" id="12"/>
          <p:cNvSpPr txBox="true"/>
          <p:nvPr/>
        </p:nvSpPr>
        <p:spPr>
          <a:xfrm rot="0">
            <a:off x="1348978" y="5977680"/>
            <a:ext cx="7519245" cy="1871367"/>
          </a:xfrm>
          <a:prstGeom prst="rect">
            <a:avLst/>
          </a:prstGeom>
        </p:spPr>
        <p:txBody>
          <a:bodyPr anchor="t" rtlCol="false" tIns="0" lIns="0" bIns="0" rIns="0">
            <a:spAutoFit/>
          </a:bodyPr>
          <a:lstStyle/>
          <a:p>
            <a:pPr algn="l">
              <a:lnSpc>
                <a:spcPts val="2448"/>
              </a:lnSpc>
            </a:pPr>
            <a:r>
              <a:rPr lang="en-US" sz="1700">
                <a:solidFill>
                  <a:srgbClr val="405449"/>
                </a:solidFill>
                <a:latin typeface="Arimo"/>
                <a:ea typeface="Arimo"/>
                <a:cs typeface="Arimo"/>
                <a:sym typeface="Arimo"/>
              </a:rPr>
              <a:t>Architecture : Input(30) → Dense(64) → Dense(32) → </a:t>
            </a:r>
            <a:r>
              <a:rPr lang="en-US" sz="1700" b="true">
                <a:solidFill>
                  <a:srgbClr val="405449"/>
                </a:solidFill>
                <a:latin typeface="Arimo Bold"/>
                <a:ea typeface="Arimo Bold"/>
                <a:cs typeface="Arimo Bold"/>
                <a:sym typeface="Arimo Bold"/>
              </a:rPr>
              <a:t>Dense(16, bottleneck)</a:t>
            </a:r>
            <a:r>
              <a:rPr lang="en-US" sz="1700">
                <a:solidFill>
                  <a:srgbClr val="405449"/>
                </a:solidFill>
                <a:latin typeface="Arimo"/>
                <a:ea typeface="Arimo"/>
                <a:cs typeface="Arimo"/>
                <a:sym typeface="Arimo"/>
              </a:rPr>
              <a:t> → Dense(32) → Dense(64) → Output(30)</a:t>
            </a:r>
          </a:p>
          <a:p>
            <a:pPr algn="l">
              <a:lnSpc>
                <a:spcPts val="2448"/>
              </a:lnSpc>
            </a:pPr>
            <a:r>
              <a:rPr lang="en-US" sz="1700">
                <a:solidFill>
                  <a:srgbClr val="405449"/>
                </a:solidFill>
                <a:latin typeface="Arimo"/>
                <a:ea typeface="Arimo"/>
                <a:cs typeface="Arimo"/>
                <a:sym typeface="Arimo"/>
              </a:rPr>
              <a:t>Le bottleneck de </a:t>
            </a:r>
            <a:r>
              <a:rPr lang="en-US" sz="1700" b="true">
                <a:solidFill>
                  <a:srgbClr val="405449"/>
                </a:solidFill>
                <a:latin typeface="Arimo Bold"/>
                <a:ea typeface="Arimo Bold"/>
                <a:cs typeface="Arimo Bold"/>
                <a:sym typeface="Arimo Bold"/>
              </a:rPr>
              <a:t>16 neurones</a:t>
            </a:r>
            <a:r>
              <a:rPr lang="en-US" sz="1700">
                <a:solidFill>
                  <a:srgbClr val="405449"/>
                </a:solidFill>
                <a:latin typeface="Arimo"/>
                <a:ea typeface="Arimo"/>
                <a:cs typeface="Arimo"/>
                <a:sym typeface="Arimo"/>
              </a:rPr>
              <a:t> force un résumé essentiel → Features ae_1 à ae_16. Si 16 chiffres suffisent à reconstruire une journée, ils en capturent l'essentiel.</a:t>
            </a:r>
          </a:p>
        </p:txBody>
      </p:sp>
      <p:grpSp>
        <p:nvGrpSpPr>
          <p:cNvPr name="Group 13" id="13"/>
          <p:cNvGrpSpPr/>
          <p:nvPr/>
        </p:nvGrpSpPr>
        <p:grpSpPr>
          <a:xfrm rot="0">
            <a:off x="9429007" y="1871815"/>
            <a:ext cx="7519245" cy="7519245"/>
            <a:chOff x="0" y="0"/>
            <a:chExt cx="10025659" cy="10025659"/>
          </a:xfrm>
        </p:grpSpPr>
        <p:sp>
          <p:nvSpPr>
            <p:cNvPr name="Freeform 14" id="14" descr="preencoded.png"/>
            <p:cNvSpPr/>
            <p:nvPr/>
          </p:nvSpPr>
          <p:spPr>
            <a:xfrm flipH="false" flipV="false" rot="0">
              <a:off x="0" y="0"/>
              <a:ext cx="10025634" cy="10025634"/>
            </a:xfrm>
            <a:custGeom>
              <a:avLst/>
              <a:gdLst/>
              <a:ahLst/>
              <a:cxnLst/>
              <a:rect r="r" b="b" t="t" l="l"/>
              <a:pathLst>
                <a:path h="10025634" w="10025634">
                  <a:moveTo>
                    <a:pt x="0" y="0"/>
                  </a:moveTo>
                  <a:lnTo>
                    <a:pt x="10025634" y="0"/>
                  </a:lnTo>
                  <a:lnTo>
                    <a:pt x="10025634" y="10025634"/>
                  </a:lnTo>
                  <a:lnTo>
                    <a:pt x="0" y="10025634"/>
                  </a:lnTo>
                  <a:lnTo>
                    <a:pt x="0" y="0"/>
                  </a:lnTo>
                  <a:close/>
                </a:path>
              </a:pathLst>
            </a:custGeom>
            <a:blipFill>
              <a:blip r:embed="rId3"/>
              <a:stretch>
                <a:fillRect l="0" t="0" r="0" b="0"/>
              </a:stretch>
            </a:blipFill>
          </p:spPr>
        </p:sp>
      </p:grpSp>
      <p:sp>
        <p:nvSpPr>
          <p:cNvPr name="TextBox 15" id="15"/>
          <p:cNvSpPr txBox="true"/>
          <p:nvPr/>
        </p:nvSpPr>
        <p:spPr>
          <a:xfrm rot="0">
            <a:off x="17259300" y="9201150"/>
            <a:ext cx="152400" cy="209550"/>
          </a:xfrm>
          <a:prstGeom prst="rect">
            <a:avLst/>
          </a:prstGeom>
        </p:spPr>
        <p:txBody>
          <a:bodyPr anchor="t" rtlCol="false" tIns="0" lIns="0" bIns="0" rIns="0" wrap="none">
            <a:spAutoFit/>
          </a:bodyPr>
          <a:lstStyle/>
          <a:p>
            <a:pPr algn="ctr">
              <a:lnSpc>
                <a:spcPts val="3639"/>
              </a:lnSpc>
              <a:spcBef>
                <a:spcPct val="0"/>
              </a:spcBef>
            </a:pPr>
            <a:r>
              <a:rPr lang="en-US" sz="2599">
                <a:solidFill>
                  <a:srgbClr val="000000"/>
                </a:solidFill>
                <a:latin typeface="Open Sans"/>
                <a:ea typeface="Open Sans"/>
                <a:cs typeface="Open Sans"/>
                <a:sym typeface="Open San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EEE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FFA"/>
            </a:solidFill>
          </p:spPr>
        </p:sp>
      </p:grpSp>
      <p:sp>
        <p:nvSpPr>
          <p:cNvPr name="TextBox 6" id="6"/>
          <p:cNvSpPr txBox="true"/>
          <p:nvPr/>
        </p:nvSpPr>
        <p:spPr>
          <a:xfrm rot="0">
            <a:off x="1348978" y="684019"/>
            <a:ext cx="11556502" cy="715413"/>
          </a:xfrm>
          <a:prstGeom prst="rect">
            <a:avLst/>
          </a:prstGeom>
        </p:spPr>
        <p:txBody>
          <a:bodyPr anchor="t" rtlCol="false" tIns="0" lIns="0" bIns="0" rIns="0">
            <a:spAutoFit/>
          </a:bodyPr>
          <a:lstStyle/>
          <a:p>
            <a:pPr algn="l">
              <a:lnSpc>
                <a:spcPts val="5491"/>
              </a:lnSpc>
            </a:pPr>
            <a:r>
              <a:rPr lang="en-US" sz="4400">
                <a:solidFill>
                  <a:srgbClr val="3B4540"/>
                </a:solidFill>
                <a:latin typeface="Fraunces"/>
                <a:ea typeface="Fraunces"/>
                <a:cs typeface="Fraunces"/>
                <a:sym typeface="Fraunces"/>
              </a:rPr>
              <a:t>Feature Learning : LSTM sur 14 Jours</a:t>
            </a:r>
          </a:p>
        </p:txBody>
      </p:sp>
      <p:sp>
        <p:nvSpPr>
          <p:cNvPr name="TextBox 7" id="7"/>
          <p:cNvSpPr txBox="true"/>
          <p:nvPr/>
        </p:nvSpPr>
        <p:spPr>
          <a:xfrm rot="0">
            <a:off x="1348978" y="2807941"/>
            <a:ext cx="3752250" cy="362541"/>
          </a:xfrm>
          <a:prstGeom prst="rect">
            <a:avLst/>
          </a:prstGeom>
        </p:spPr>
        <p:txBody>
          <a:bodyPr anchor="t" rtlCol="false" tIns="0" lIns="0" bIns="0" rIns="0">
            <a:spAutoFit/>
          </a:bodyPr>
          <a:lstStyle/>
          <a:p>
            <a:pPr algn="l">
              <a:lnSpc>
                <a:spcPts val="2745"/>
              </a:lnSpc>
            </a:pPr>
            <a:r>
              <a:rPr lang="en-US" sz="2200">
                <a:solidFill>
                  <a:srgbClr val="3B4540"/>
                </a:solidFill>
                <a:latin typeface="Fraunces"/>
                <a:ea typeface="Fraunces"/>
                <a:cs typeface="Fraunces"/>
                <a:sym typeface="Fraunces"/>
              </a:rPr>
              <a:t>Pourquoi 14 Jours ?</a:t>
            </a:r>
          </a:p>
        </p:txBody>
      </p:sp>
      <p:sp>
        <p:nvSpPr>
          <p:cNvPr name="TextBox 8" id="8"/>
          <p:cNvSpPr txBox="true"/>
          <p:nvPr/>
        </p:nvSpPr>
        <p:spPr>
          <a:xfrm rot="0">
            <a:off x="1348978" y="3293269"/>
            <a:ext cx="7519245" cy="706641"/>
          </a:xfrm>
          <a:prstGeom prst="rect">
            <a:avLst/>
          </a:prstGeom>
        </p:spPr>
        <p:txBody>
          <a:bodyPr anchor="t" rtlCol="false" tIns="0" lIns="0" bIns="0" rIns="0">
            <a:spAutoFit/>
          </a:bodyPr>
          <a:lstStyle/>
          <a:p>
            <a:pPr algn="l">
              <a:lnSpc>
                <a:spcPts val="2448"/>
              </a:lnSpc>
            </a:pPr>
            <a:r>
              <a:rPr lang="en-US" sz="1700">
                <a:solidFill>
                  <a:srgbClr val="405449"/>
                </a:solidFill>
                <a:latin typeface="Arimo"/>
                <a:ea typeface="Arimo"/>
                <a:cs typeface="Arimo"/>
                <a:sym typeface="Arimo"/>
              </a:rPr>
              <a:t>Échelle typique d'un front méditerranéen — ~2 semaines de l'Atlantique à la Tunisie.</a:t>
            </a:r>
          </a:p>
        </p:txBody>
      </p:sp>
      <p:sp>
        <p:nvSpPr>
          <p:cNvPr name="TextBox 9" id="9"/>
          <p:cNvSpPr txBox="true"/>
          <p:nvPr/>
        </p:nvSpPr>
        <p:spPr>
          <a:xfrm rot="0">
            <a:off x="1348978" y="4170312"/>
            <a:ext cx="5292328" cy="362541"/>
          </a:xfrm>
          <a:prstGeom prst="rect">
            <a:avLst/>
          </a:prstGeom>
        </p:spPr>
        <p:txBody>
          <a:bodyPr anchor="t" rtlCol="false" tIns="0" lIns="0" bIns="0" rIns="0">
            <a:spAutoFit/>
          </a:bodyPr>
          <a:lstStyle/>
          <a:p>
            <a:pPr algn="l">
              <a:lnSpc>
                <a:spcPts val="2745"/>
              </a:lnSpc>
            </a:pPr>
            <a:r>
              <a:rPr lang="en-US" sz="2200">
                <a:solidFill>
                  <a:srgbClr val="3B4540"/>
                </a:solidFill>
                <a:latin typeface="Fraunces"/>
                <a:ea typeface="Fraunces"/>
                <a:cs typeface="Fraunces"/>
                <a:sym typeface="Fraunces"/>
              </a:rPr>
              <a:t>Architecture LSTM Supervisée</a:t>
            </a:r>
          </a:p>
        </p:txBody>
      </p:sp>
      <p:sp>
        <p:nvSpPr>
          <p:cNvPr name="TextBox 10" id="10"/>
          <p:cNvSpPr txBox="true"/>
          <p:nvPr/>
        </p:nvSpPr>
        <p:spPr>
          <a:xfrm rot="0">
            <a:off x="1348978" y="4655639"/>
            <a:ext cx="7519245" cy="1544984"/>
          </a:xfrm>
          <a:prstGeom prst="rect">
            <a:avLst/>
          </a:prstGeom>
        </p:spPr>
        <p:txBody>
          <a:bodyPr anchor="t" rtlCol="false" tIns="0" lIns="0" bIns="0" rIns="0">
            <a:spAutoFit/>
          </a:bodyPr>
          <a:lstStyle/>
          <a:p>
            <a:pPr algn="l" marL="410210" indent="-205105" lvl="1">
              <a:lnSpc>
                <a:spcPts val="2448"/>
              </a:lnSpc>
              <a:buFont typeface="Arial"/>
              <a:buChar char="•"/>
            </a:pPr>
            <a:r>
              <a:rPr lang="en-US" b="true" sz="1700">
                <a:solidFill>
                  <a:srgbClr val="405449"/>
                </a:solidFill>
                <a:latin typeface="Arimo Bold"/>
                <a:ea typeface="Arimo Bold"/>
                <a:cs typeface="Arimo Bold"/>
                <a:sym typeface="Arimo Bold"/>
              </a:rPr>
              <a:t>Entrée :</a:t>
            </a:r>
            <a:r>
              <a:rPr lang="en-US" sz="1700">
                <a:solidFill>
                  <a:srgbClr val="405449"/>
                </a:solidFill>
                <a:latin typeface="Arimo"/>
                <a:ea typeface="Arimo"/>
                <a:cs typeface="Arimo"/>
                <a:sym typeface="Arimo"/>
              </a:rPr>
              <a:t> séquence de 14 jours × 30 variables standardisées</a:t>
            </a:r>
          </a:p>
          <a:p>
            <a:pPr algn="l" marL="410210" indent="-205105" lvl="1">
              <a:lnSpc>
                <a:spcPts val="2448"/>
              </a:lnSpc>
              <a:buFont typeface="Arial"/>
              <a:buChar char="•"/>
            </a:pPr>
            <a:r>
              <a:rPr lang="en-US" sz="1700">
                <a:solidFill>
                  <a:srgbClr val="405449"/>
                </a:solidFill>
                <a:latin typeface="Arimo"/>
                <a:ea typeface="Arimo"/>
                <a:cs typeface="Arimo"/>
                <a:sym typeface="Arimo"/>
              </a:rPr>
              <a:t>LSTM(64, return_sequences=True) + Dropout(0.3)</a:t>
            </a:r>
          </a:p>
          <a:p>
            <a:pPr algn="l" marL="410210" indent="-205105" lvl="1">
              <a:lnSpc>
                <a:spcPts val="2448"/>
              </a:lnSpc>
              <a:buFont typeface="Arial"/>
              <a:buChar char="•"/>
            </a:pPr>
            <a:r>
              <a:rPr lang="en-US" sz="1700">
                <a:solidFill>
                  <a:srgbClr val="405449"/>
                </a:solidFill>
                <a:latin typeface="Arimo"/>
                <a:ea typeface="Arimo"/>
                <a:cs typeface="Arimo"/>
                <a:sym typeface="Arimo"/>
              </a:rPr>
              <a:t>LSTM(64) + Dropout(0.3)</a:t>
            </a:r>
          </a:p>
          <a:p>
            <a:pPr algn="l" marL="410210" indent="-205105" lvl="1">
              <a:lnSpc>
                <a:spcPts val="2448"/>
              </a:lnSpc>
              <a:buFont typeface="Arial"/>
              <a:buChar char="•"/>
            </a:pPr>
            <a:r>
              <a:rPr lang="en-US" sz="1700">
                <a:solidFill>
                  <a:srgbClr val="405449"/>
                </a:solidFill>
                <a:latin typeface="Arimo"/>
                <a:ea typeface="Arimo"/>
                <a:cs typeface="Arimo"/>
                <a:sym typeface="Arimo"/>
              </a:rPr>
              <a:t>Dense(1, sigmoid)</a:t>
            </a:r>
          </a:p>
        </p:txBody>
      </p:sp>
      <p:sp>
        <p:nvSpPr>
          <p:cNvPr name="TextBox 11" id="11"/>
          <p:cNvSpPr txBox="true"/>
          <p:nvPr/>
        </p:nvSpPr>
        <p:spPr>
          <a:xfrm rot="0">
            <a:off x="1348978" y="6305398"/>
            <a:ext cx="7519245" cy="735206"/>
          </a:xfrm>
          <a:prstGeom prst="rect">
            <a:avLst/>
          </a:prstGeom>
        </p:spPr>
        <p:txBody>
          <a:bodyPr anchor="t" rtlCol="false" tIns="0" lIns="0" bIns="0" rIns="0">
            <a:spAutoFit/>
          </a:bodyPr>
          <a:lstStyle/>
          <a:p>
            <a:pPr algn="l">
              <a:lnSpc>
                <a:spcPts val="2448"/>
              </a:lnSpc>
            </a:pPr>
            <a:r>
              <a:rPr lang="en-US" sz="1700">
                <a:solidFill>
                  <a:srgbClr val="405449"/>
                </a:solidFill>
                <a:latin typeface="Arimo"/>
                <a:ea typeface="Arimo"/>
                <a:cs typeface="Arimo"/>
                <a:sym typeface="Arimo"/>
              </a:rPr>
              <a:t>Extraction des </a:t>
            </a:r>
            <a:r>
              <a:rPr lang="en-US" sz="1700" b="true">
                <a:solidFill>
                  <a:srgbClr val="405449"/>
                </a:solidFill>
                <a:latin typeface="Arimo Bold"/>
                <a:ea typeface="Arimo Bold"/>
                <a:cs typeface="Arimo Bold"/>
                <a:sym typeface="Arimo Bold"/>
              </a:rPr>
              <a:t>64 activations cachées</a:t>
            </a:r>
            <a:r>
              <a:rPr lang="en-US" sz="1700">
                <a:solidFill>
                  <a:srgbClr val="405449"/>
                </a:solidFill>
                <a:latin typeface="Arimo"/>
                <a:ea typeface="Arimo"/>
                <a:cs typeface="Arimo"/>
                <a:sym typeface="Arimo"/>
              </a:rPr>
              <a:t> (2e couche) → Features lstm_1 à lstm_64</a:t>
            </a:r>
          </a:p>
        </p:txBody>
      </p:sp>
      <p:grpSp>
        <p:nvGrpSpPr>
          <p:cNvPr name="Group 12" id="12"/>
          <p:cNvGrpSpPr/>
          <p:nvPr/>
        </p:nvGrpSpPr>
        <p:grpSpPr>
          <a:xfrm rot="0">
            <a:off x="1348978" y="7243020"/>
            <a:ext cx="7519245" cy="1179757"/>
            <a:chOff x="0" y="0"/>
            <a:chExt cx="10025659" cy="1573009"/>
          </a:xfrm>
        </p:grpSpPr>
        <p:sp>
          <p:nvSpPr>
            <p:cNvPr name="Freeform 13" id="13"/>
            <p:cNvSpPr/>
            <p:nvPr/>
          </p:nvSpPr>
          <p:spPr>
            <a:xfrm flipH="false" flipV="false" rot="0">
              <a:off x="0" y="0"/>
              <a:ext cx="10025634" cy="1573022"/>
            </a:xfrm>
            <a:custGeom>
              <a:avLst/>
              <a:gdLst/>
              <a:ahLst/>
              <a:cxnLst/>
              <a:rect r="r" b="b" t="t" l="l"/>
              <a:pathLst>
                <a:path h="1573022" w="10025634">
                  <a:moveTo>
                    <a:pt x="0" y="271145"/>
                  </a:moveTo>
                  <a:cubicBezTo>
                    <a:pt x="0" y="121412"/>
                    <a:pt x="121412" y="0"/>
                    <a:pt x="271145" y="0"/>
                  </a:cubicBezTo>
                  <a:lnTo>
                    <a:pt x="9754489" y="0"/>
                  </a:lnTo>
                  <a:cubicBezTo>
                    <a:pt x="9904222" y="0"/>
                    <a:pt x="10025634" y="121412"/>
                    <a:pt x="10025634" y="271145"/>
                  </a:cubicBezTo>
                  <a:lnTo>
                    <a:pt x="10025634" y="1301877"/>
                  </a:lnTo>
                  <a:cubicBezTo>
                    <a:pt x="10025634" y="1451610"/>
                    <a:pt x="9904222" y="1573022"/>
                    <a:pt x="9754489" y="1573022"/>
                  </a:cubicBezTo>
                  <a:lnTo>
                    <a:pt x="271145" y="1573022"/>
                  </a:lnTo>
                  <a:cubicBezTo>
                    <a:pt x="121412" y="1573022"/>
                    <a:pt x="0" y="1451610"/>
                    <a:pt x="0" y="1301877"/>
                  </a:cubicBezTo>
                  <a:close/>
                </a:path>
              </a:pathLst>
            </a:custGeom>
            <a:solidFill>
              <a:srgbClr val="FCF2B5"/>
            </a:solidFill>
          </p:spPr>
        </p:sp>
      </p:grpSp>
      <p:grpSp>
        <p:nvGrpSpPr>
          <p:cNvPr name="Group 14" id="14"/>
          <p:cNvGrpSpPr/>
          <p:nvPr/>
        </p:nvGrpSpPr>
        <p:grpSpPr>
          <a:xfrm rot="0">
            <a:off x="1574902" y="7546629"/>
            <a:ext cx="282331" cy="225923"/>
            <a:chOff x="0" y="0"/>
            <a:chExt cx="376441" cy="301231"/>
          </a:xfrm>
        </p:grpSpPr>
        <p:sp>
          <p:nvSpPr>
            <p:cNvPr name="Freeform 15" id="15" descr="preencoded.png"/>
            <p:cNvSpPr/>
            <p:nvPr/>
          </p:nvSpPr>
          <p:spPr>
            <a:xfrm flipH="false" flipV="false" rot="0">
              <a:off x="0" y="0"/>
              <a:ext cx="376428" cy="301244"/>
            </a:xfrm>
            <a:custGeom>
              <a:avLst/>
              <a:gdLst/>
              <a:ahLst/>
              <a:cxnLst/>
              <a:rect r="r" b="b" t="t" l="l"/>
              <a:pathLst>
                <a:path h="301244" w="376428">
                  <a:moveTo>
                    <a:pt x="0" y="0"/>
                  </a:moveTo>
                  <a:lnTo>
                    <a:pt x="376428" y="0"/>
                  </a:lnTo>
                  <a:lnTo>
                    <a:pt x="376428" y="301244"/>
                  </a:lnTo>
                  <a:lnTo>
                    <a:pt x="0" y="301244"/>
                  </a:lnTo>
                  <a:lnTo>
                    <a:pt x="0" y="0"/>
                  </a:lnTo>
                  <a:close/>
                </a:path>
              </a:pathLst>
            </a:custGeom>
            <a:blipFill>
              <a:blip r:embed="rId3"/>
              <a:stretch>
                <a:fillRect l="-13" t="0" r="-16" b="4"/>
              </a:stretch>
            </a:blipFill>
          </p:spPr>
        </p:sp>
      </p:grpSp>
      <p:sp>
        <p:nvSpPr>
          <p:cNvPr name="TextBox 16" id="16"/>
          <p:cNvSpPr txBox="true"/>
          <p:nvPr/>
        </p:nvSpPr>
        <p:spPr>
          <a:xfrm rot="0">
            <a:off x="2083146" y="7422204"/>
            <a:ext cx="6559153" cy="725691"/>
          </a:xfrm>
          <a:prstGeom prst="rect">
            <a:avLst/>
          </a:prstGeom>
        </p:spPr>
        <p:txBody>
          <a:bodyPr anchor="t" rtlCol="false" tIns="0" lIns="0" bIns="0" rIns="0">
            <a:spAutoFit/>
          </a:bodyPr>
          <a:lstStyle/>
          <a:p>
            <a:pPr algn="l">
              <a:lnSpc>
                <a:spcPts val="2448"/>
              </a:lnSpc>
            </a:pPr>
            <a:r>
              <a:rPr lang="en-US" sz="1700">
                <a:solidFill>
                  <a:srgbClr val="000000"/>
                </a:solidFill>
                <a:latin typeface="Arimo"/>
                <a:ea typeface="Arimo"/>
                <a:cs typeface="Arimo"/>
                <a:sym typeface="Arimo"/>
              </a:rPr>
              <a:t>⚠️ Fenêtres pré-remplies à zéro aux frontières inter-villes pour ne jamais mélanger les historiques.</a:t>
            </a:r>
          </a:p>
        </p:txBody>
      </p:sp>
      <p:grpSp>
        <p:nvGrpSpPr>
          <p:cNvPr name="Group 17" id="17"/>
          <p:cNvGrpSpPr/>
          <p:nvPr/>
        </p:nvGrpSpPr>
        <p:grpSpPr>
          <a:xfrm rot="0">
            <a:off x="9429007" y="1871815"/>
            <a:ext cx="7519245" cy="7519245"/>
            <a:chOff x="0" y="0"/>
            <a:chExt cx="10025659" cy="10025659"/>
          </a:xfrm>
        </p:grpSpPr>
        <p:sp>
          <p:nvSpPr>
            <p:cNvPr name="Freeform 18" id="18" descr="preencoded.png"/>
            <p:cNvSpPr/>
            <p:nvPr/>
          </p:nvSpPr>
          <p:spPr>
            <a:xfrm flipH="false" flipV="false" rot="0">
              <a:off x="0" y="0"/>
              <a:ext cx="10025634" cy="10025634"/>
            </a:xfrm>
            <a:custGeom>
              <a:avLst/>
              <a:gdLst/>
              <a:ahLst/>
              <a:cxnLst/>
              <a:rect r="r" b="b" t="t" l="l"/>
              <a:pathLst>
                <a:path h="10025634" w="10025634">
                  <a:moveTo>
                    <a:pt x="0" y="0"/>
                  </a:moveTo>
                  <a:lnTo>
                    <a:pt x="10025634" y="0"/>
                  </a:lnTo>
                  <a:lnTo>
                    <a:pt x="10025634" y="10025634"/>
                  </a:lnTo>
                  <a:lnTo>
                    <a:pt x="0" y="10025634"/>
                  </a:lnTo>
                  <a:lnTo>
                    <a:pt x="0" y="0"/>
                  </a:lnTo>
                  <a:close/>
                </a:path>
              </a:pathLst>
            </a:custGeom>
            <a:blipFill>
              <a:blip r:embed="rId4"/>
              <a:stretch>
                <a:fillRect l="0" t="0" r="0" b="0"/>
              </a:stretch>
            </a:blipFill>
          </p:spPr>
        </p:sp>
      </p:grpSp>
      <p:sp>
        <p:nvSpPr>
          <p:cNvPr name="TextBox 19" id="19"/>
          <p:cNvSpPr txBox="true"/>
          <p:nvPr/>
        </p:nvSpPr>
        <p:spPr>
          <a:xfrm rot="0">
            <a:off x="17259300" y="9201150"/>
            <a:ext cx="152400" cy="209550"/>
          </a:xfrm>
          <a:prstGeom prst="rect">
            <a:avLst/>
          </a:prstGeom>
        </p:spPr>
        <p:txBody>
          <a:bodyPr anchor="t" rtlCol="false" tIns="0" lIns="0" bIns="0" rIns="0" wrap="none">
            <a:spAutoFit/>
          </a:bodyPr>
          <a:lstStyle/>
          <a:p>
            <a:pPr algn="ctr">
              <a:lnSpc>
                <a:spcPts val="3639"/>
              </a:lnSpc>
              <a:spcBef>
                <a:spcPct val="0"/>
              </a:spcBef>
            </a:pPr>
            <a:r>
              <a:rPr lang="en-US" sz="2599">
                <a:solidFill>
                  <a:srgbClr val="000000"/>
                </a:solidFill>
                <a:latin typeface="Open Sans"/>
                <a:ea typeface="Open Sans"/>
                <a:cs typeface="Open Sans"/>
                <a:sym typeface="Open San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EEE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FFA"/>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7524750" y="529380"/>
            <a:ext cx="8560146" cy="614362"/>
          </a:xfrm>
          <a:prstGeom prst="rect">
            <a:avLst/>
          </a:prstGeom>
        </p:spPr>
        <p:txBody>
          <a:bodyPr anchor="t" rtlCol="false" tIns="0" lIns="0" bIns="0" rIns="0">
            <a:spAutoFit/>
          </a:bodyPr>
          <a:lstStyle/>
          <a:p>
            <a:pPr algn="l">
              <a:lnSpc>
                <a:spcPts val="4617"/>
              </a:lnSpc>
            </a:pPr>
            <a:r>
              <a:rPr lang="en-US" sz="3700">
                <a:solidFill>
                  <a:srgbClr val="3B4540"/>
                </a:solidFill>
                <a:latin typeface="Fraunces"/>
                <a:ea typeface="Fraunces"/>
                <a:cs typeface="Fraunces"/>
                <a:sym typeface="Fraunces"/>
              </a:rPr>
              <a:t>Vecteur Final : Pipeline Hybride</a:t>
            </a:r>
          </a:p>
        </p:txBody>
      </p:sp>
      <p:sp>
        <p:nvSpPr>
          <p:cNvPr name="TextBox 9" id="9"/>
          <p:cNvSpPr txBox="true"/>
          <p:nvPr/>
        </p:nvSpPr>
        <p:spPr>
          <a:xfrm rot="0">
            <a:off x="7524750" y="1307154"/>
            <a:ext cx="10763250" cy="302419"/>
          </a:xfrm>
          <a:prstGeom prst="rect">
            <a:avLst/>
          </a:prstGeom>
        </p:spPr>
        <p:txBody>
          <a:bodyPr anchor="t" rtlCol="false" tIns="0" lIns="0" bIns="0" rIns="0">
            <a:spAutoFit/>
          </a:bodyPr>
          <a:lstStyle/>
          <a:p>
            <a:pPr algn="l">
              <a:lnSpc>
                <a:spcPts val="1998"/>
              </a:lnSpc>
            </a:pPr>
            <a:r>
              <a:rPr lang="en-US" sz="1500">
                <a:solidFill>
                  <a:srgbClr val="405449"/>
                </a:solidFill>
                <a:latin typeface="Arimo"/>
                <a:ea typeface="Arimo"/>
                <a:cs typeface="Arimo"/>
                <a:sym typeface="Arimo"/>
              </a:rPr>
              <a:t>Concaténation de toutes les sources → tunisie_meteo_final.csv</a:t>
            </a:r>
          </a:p>
        </p:txBody>
      </p:sp>
      <p:sp>
        <p:nvSpPr>
          <p:cNvPr name="TextBox 10" id="10"/>
          <p:cNvSpPr txBox="true"/>
          <p:nvPr/>
        </p:nvSpPr>
        <p:spPr>
          <a:xfrm rot="0">
            <a:off x="7524750" y="1943995"/>
            <a:ext cx="10096500" cy="533400"/>
          </a:xfrm>
          <a:prstGeom prst="rect">
            <a:avLst/>
          </a:prstGeom>
        </p:spPr>
        <p:txBody>
          <a:bodyPr anchor="t" rtlCol="false" tIns="0" lIns="0" bIns="0" rIns="0">
            <a:spAutoFit/>
          </a:bodyPr>
          <a:lstStyle/>
          <a:p>
            <a:pPr algn="ctr">
              <a:lnSpc>
                <a:spcPts val="4880"/>
              </a:lnSpc>
            </a:pPr>
            <a:r>
              <a:rPr lang="en-US" sz="4900">
                <a:solidFill>
                  <a:srgbClr val="405449"/>
                </a:solidFill>
                <a:latin typeface="Fraunces"/>
                <a:ea typeface="Fraunces"/>
                <a:cs typeface="Fraunces"/>
                <a:sym typeface="Fraunces"/>
              </a:rPr>
              <a:t>~45</a:t>
            </a:r>
          </a:p>
        </p:txBody>
      </p:sp>
      <p:sp>
        <p:nvSpPr>
          <p:cNvPr name="TextBox 11" id="11"/>
          <p:cNvSpPr txBox="true"/>
          <p:nvPr/>
        </p:nvSpPr>
        <p:spPr>
          <a:xfrm rot="0">
            <a:off x="10755506" y="2659113"/>
            <a:ext cx="3634978" cy="307181"/>
          </a:xfrm>
          <a:prstGeom prst="rect">
            <a:avLst/>
          </a:prstGeom>
        </p:spPr>
        <p:txBody>
          <a:bodyPr anchor="t" rtlCol="false" tIns="0" lIns="0" bIns="0" rIns="0">
            <a:spAutoFit/>
          </a:bodyPr>
          <a:lstStyle/>
          <a:p>
            <a:pPr algn="ctr">
              <a:lnSpc>
                <a:spcPts val="2246"/>
              </a:lnSpc>
            </a:pPr>
            <a:r>
              <a:rPr lang="en-US" sz="1800">
                <a:solidFill>
                  <a:srgbClr val="405449"/>
                </a:solidFill>
                <a:latin typeface="Fraunces"/>
                <a:ea typeface="Fraunces"/>
                <a:cs typeface="Fraunces"/>
                <a:sym typeface="Fraunces"/>
              </a:rPr>
              <a:t>Features Brutes &amp; Ingénierées</a:t>
            </a:r>
          </a:p>
        </p:txBody>
      </p:sp>
      <p:sp>
        <p:nvSpPr>
          <p:cNvPr name="TextBox 12" id="12"/>
          <p:cNvSpPr txBox="true"/>
          <p:nvPr/>
        </p:nvSpPr>
        <p:spPr>
          <a:xfrm rot="0">
            <a:off x="7524750" y="3014510"/>
            <a:ext cx="10096500" cy="283369"/>
          </a:xfrm>
          <a:prstGeom prst="rect">
            <a:avLst/>
          </a:prstGeom>
        </p:spPr>
        <p:txBody>
          <a:bodyPr anchor="t" rtlCol="false" tIns="0" lIns="0" bIns="0" rIns="0">
            <a:spAutoFit/>
          </a:bodyPr>
          <a:lstStyle/>
          <a:p>
            <a:pPr algn="ctr">
              <a:lnSpc>
                <a:spcPts val="1998"/>
              </a:lnSpc>
            </a:pPr>
            <a:r>
              <a:rPr lang="en-US" sz="1500">
                <a:solidFill>
                  <a:srgbClr val="405449"/>
                </a:solidFill>
                <a:latin typeface="Arimo"/>
                <a:ea typeface="Arimo"/>
                <a:cs typeface="Arimo"/>
                <a:sym typeface="Arimo"/>
              </a:rPr>
              <a:t>Lags, rolling, dérivées, saisonnières</a:t>
            </a:r>
          </a:p>
        </p:txBody>
      </p:sp>
      <p:sp>
        <p:nvSpPr>
          <p:cNvPr name="TextBox 13" id="13"/>
          <p:cNvSpPr txBox="true"/>
          <p:nvPr/>
        </p:nvSpPr>
        <p:spPr>
          <a:xfrm rot="0">
            <a:off x="7524750" y="3744363"/>
            <a:ext cx="10096500" cy="533400"/>
          </a:xfrm>
          <a:prstGeom prst="rect">
            <a:avLst/>
          </a:prstGeom>
        </p:spPr>
        <p:txBody>
          <a:bodyPr anchor="t" rtlCol="false" tIns="0" lIns="0" bIns="0" rIns="0">
            <a:spAutoFit/>
          </a:bodyPr>
          <a:lstStyle/>
          <a:p>
            <a:pPr algn="ctr">
              <a:lnSpc>
                <a:spcPts val="4880"/>
              </a:lnSpc>
            </a:pPr>
            <a:r>
              <a:rPr lang="en-US" sz="4900">
                <a:solidFill>
                  <a:srgbClr val="405449"/>
                </a:solidFill>
                <a:latin typeface="Fraunces"/>
                <a:ea typeface="Fraunces"/>
                <a:cs typeface="Fraunces"/>
                <a:sym typeface="Fraunces"/>
              </a:rPr>
              <a:t>3</a:t>
            </a:r>
          </a:p>
        </p:txBody>
      </p:sp>
      <p:sp>
        <p:nvSpPr>
          <p:cNvPr name="TextBox 14" id="14"/>
          <p:cNvSpPr txBox="true"/>
          <p:nvPr/>
        </p:nvSpPr>
        <p:spPr>
          <a:xfrm rot="0">
            <a:off x="11382375" y="4459481"/>
            <a:ext cx="2381250" cy="307181"/>
          </a:xfrm>
          <a:prstGeom prst="rect">
            <a:avLst/>
          </a:prstGeom>
        </p:spPr>
        <p:txBody>
          <a:bodyPr anchor="t" rtlCol="false" tIns="0" lIns="0" bIns="0" rIns="0">
            <a:spAutoFit/>
          </a:bodyPr>
          <a:lstStyle/>
          <a:p>
            <a:pPr algn="ctr">
              <a:lnSpc>
                <a:spcPts val="2246"/>
              </a:lnSpc>
            </a:pPr>
            <a:r>
              <a:rPr lang="en-US" sz="1800">
                <a:solidFill>
                  <a:srgbClr val="405449"/>
                </a:solidFill>
                <a:latin typeface="Fraunces"/>
                <a:ea typeface="Fraunces"/>
                <a:cs typeface="Fraunces"/>
                <a:sym typeface="Fraunces"/>
              </a:rPr>
              <a:t>PCA Thermique</a:t>
            </a:r>
          </a:p>
        </p:txBody>
      </p:sp>
      <p:sp>
        <p:nvSpPr>
          <p:cNvPr name="TextBox 15" id="15"/>
          <p:cNvSpPr txBox="true"/>
          <p:nvPr/>
        </p:nvSpPr>
        <p:spPr>
          <a:xfrm rot="0">
            <a:off x="7524750" y="4814887"/>
            <a:ext cx="10096500" cy="283369"/>
          </a:xfrm>
          <a:prstGeom prst="rect">
            <a:avLst/>
          </a:prstGeom>
        </p:spPr>
        <p:txBody>
          <a:bodyPr anchor="t" rtlCol="false" tIns="0" lIns="0" bIns="0" rIns="0">
            <a:spAutoFit/>
          </a:bodyPr>
          <a:lstStyle/>
          <a:p>
            <a:pPr algn="ctr">
              <a:lnSpc>
                <a:spcPts val="1998"/>
              </a:lnSpc>
            </a:pPr>
            <a:r>
              <a:rPr lang="en-US" sz="1500">
                <a:solidFill>
                  <a:srgbClr val="405449"/>
                </a:solidFill>
                <a:latin typeface="Arimo"/>
                <a:ea typeface="Arimo"/>
                <a:cs typeface="Arimo"/>
                <a:sym typeface="Arimo"/>
              </a:rPr>
              <a:t>Composantes indépendantes</a:t>
            </a:r>
          </a:p>
        </p:txBody>
      </p:sp>
      <p:sp>
        <p:nvSpPr>
          <p:cNvPr name="TextBox 16" id="16"/>
          <p:cNvSpPr txBox="true"/>
          <p:nvPr/>
        </p:nvSpPr>
        <p:spPr>
          <a:xfrm rot="0">
            <a:off x="7524750" y="5544741"/>
            <a:ext cx="10096500" cy="533400"/>
          </a:xfrm>
          <a:prstGeom prst="rect">
            <a:avLst/>
          </a:prstGeom>
        </p:spPr>
        <p:txBody>
          <a:bodyPr anchor="t" rtlCol="false" tIns="0" lIns="0" bIns="0" rIns="0">
            <a:spAutoFit/>
          </a:bodyPr>
          <a:lstStyle/>
          <a:p>
            <a:pPr algn="ctr">
              <a:lnSpc>
                <a:spcPts val="4880"/>
              </a:lnSpc>
            </a:pPr>
            <a:r>
              <a:rPr lang="en-US" sz="4900">
                <a:solidFill>
                  <a:srgbClr val="405449"/>
                </a:solidFill>
                <a:latin typeface="Fraunces"/>
                <a:ea typeface="Fraunces"/>
                <a:cs typeface="Fraunces"/>
                <a:sym typeface="Fraunces"/>
              </a:rPr>
              <a:t>16</a:t>
            </a:r>
          </a:p>
        </p:txBody>
      </p:sp>
      <p:sp>
        <p:nvSpPr>
          <p:cNvPr name="TextBox 17" id="17"/>
          <p:cNvSpPr txBox="true"/>
          <p:nvPr/>
        </p:nvSpPr>
        <p:spPr>
          <a:xfrm rot="0">
            <a:off x="11382375" y="6259859"/>
            <a:ext cx="2381250" cy="307181"/>
          </a:xfrm>
          <a:prstGeom prst="rect">
            <a:avLst/>
          </a:prstGeom>
        </p:spPr>
        <p:txBody>
          <a:bodyPr anchor="t" rtlCol="false" tIns="0" lIns="0" bIns="0" rIns="0">
            <a:spAutoFit/>
          </a:bodyPr>
          <a:lstStyle/>
          <a:p>
            <a:pPr algn="ctr">
              <a:lnSpc>
                <a:spcPts val="2246"/>
              </a:lnSpc>
            </a:pPr>
            <a:r>
              <a:rPr lang="en-US" sz="1800">
                <a:solidFill>
                  <a:srgbClr val="405449"/>
                </a:solidFill>
                <a:latin typeface="Fraunces"/>
                <a:ea typeface="Fraunces"/>
                <a:cs typeface="Fraunces"/>
                <a:sym typeface="Fraunces"/>
              </a:rPr>
              <a:t>Autoencodeur</a:t>
            </a:r>
          </a:p>
        </p:txBody>
      </p:sp>
      <p:sp>
        <p:nvSpPr>
          <p:cNvPr name="TextBox 18" id="18"/>
          <p:cNvSpPr txBox="true"/>
          <p:nvPr/>
        </p:nvSpPr>
        <p:spPr>
          <a:xfrm rot="0">
            <a:off x="7524750" y="6615265"/>
            <a:ext cx="10096500" cy="283369"/>
          </a:xfrm>
          <a:prstGeom prst="rect">
            <a:avLst/>
          </a:prstGeom>
        </p:spPr>
        <p:txBody>
          <a:bodyPr anchor="t" rtlCol="false" tIns="0" lIns="0" bIns="0" rIns="0">
            <a:spAutoFit/>
          </a:bodyPr>
          <a:lstStyle/>
          <a:p>
            <a:pPr algn="ctr">
              <a:lnSpc>
                <a:spcPts val="1998"/>
              </a:lnSpc>
            </a:pPr>
            <a:r>
              <a:rPr lang="en-US" sz="1500">
                <a:solidFill>
                  <a:srgbClr val="405449"/>
                </a:solidFill>
                <a:latin typeface="Arimo"/>
                <a:ea typeface="Arimo"/>
                <a:cs typeface="Arimo"/>
                <a:sym typeface="Arimo"/>
              </a:rPr>
              <a:t>Bottleneck features ae_1 à ae_16</a:t>
            </a:r>
          </a:p>
        </p:txBody>
      </p:sp>
      <p:sp>
        <p:nvSpPr>
          <p:cNvPr name="TextBox 19" id="19"/>
          <p:cNvSpPr txBox="true"/>
          <p:nvPr/>
        </p:nvSpPr>
        <p:spPr>
          <a:xfrm rot="0">
            <a:off x="7524750" y="7345118"/>
            <a:ext cx="10096500" cy="533400"/>
          </a:xfrm>
          <a:prstGeom prst="rect">
            <a:avLst/>
          </a:prstGeom>
        </p:spPr>
        <p:txBody>
          <a:bodyPr anchor="t" rtlCol="false" tIns="0" lIns="0" bIns="0" rIns="0">
            <a:spAutoFit/>
          </a:bodyPr>
          <a:lstStyle/>
          <a:p>
            <a:pPr algn="ctr">
              <a:lnSpc>
                <a:spcPts val="4880"/>
              </a:lnSpc>
            </a:pPr>
            <a:r>
              <a:rPr lang="en-US" sz="4900">
                <a:solidFill>
                  <a:srgbClr val="405449"/>
                </a:solidFill>
                <a:latin typeface="Fraunces"/>
                <a:ea typeface="Fraunces"/>
                <a:cs typeface="Fraunces"/>
                <a:sym typeface="Fraunces"/>
              </a:rPr>
              <a:t>64</a:t>
            </a:r>
          </a:p>
        </p:txBody>
      </p:sp>
      <p:sp>
        <p:nvSpPr>
          <p:cNvPr name="TextBox 20" id="20"/>
          <p:cNvSpPr txBox="true"/>
          <p:nvPr/>
        </p:nvSpPr>
        <p:spPr>
          <a:xfrm rot="0">
            <a:off x="11382375" y="8060236"/>
            <a:ext cx="2381250" cy="307181"/>
          </a:xfrm>
          <a:prstGeom prst="rect">
            <a:avLst/>
          </a:prstGeom>
        </p:spPr>
        <p:txBody>
          <a:bodyPr anchor="t" rtlCol="false" tIns="0" lIns="0" bIns="0" rIns="0">
            <a:spAutoFit/>
          </a:bodyPr>
          <a:lstStyle/>
          <a:p>
            <a:pPr algn="ctr">
              <a:lnSpc>
                <a:spcPts val="2246"/>
              </a:lnSpc>
            </a:pPr>
            <a:r>
              <a:rPr lang="en-US" sz="1800">
                <a:solidFill>
                  <a:srgbClr val="405449"/>
                </a:solidFill>
                <a:latin typeface="Fraunces"/>
                <a:ea typeface="Fraunces"/>
                <a:cs typeface="Fraunces"/>
                <a:sym typeface="Fraunces"/>
              </a:rPr>
              <a:t>LSTM Temporel</a:t>
            </a:r>
          </a:p>
        </p:txBody>
      </p:sp>
      <p:sp>
        <p:nvSpPr>
          <p:cNvPr name="TextBox 21" id="21"/>
          <p:cNvSpPr txBox="true"/>
          <p:nvPr/>
        </p:nvSpPr>
        <p:spPr>
          <a:xfrm rot="0">
            <a:off x="7524750" y="8415633"/>
            <a:ext cx="10096500" cy="283369"/>
          </a:xfrm>
          <a:prstGeom prst="rect">
            <a:avLst/>
          </a:prstGeom>
        </p:spPr>
        <p:txBody>
          <a:bodyPr anchor="t" rtlCol="false" tIns="0" lIns="0" bIns="0" rIns="0">
            <a:spAutoFit/>
          </a:bodyPr>
          <a:lstStyle/>
          <a:p>
            <a:pPr algn="ctr">
              <a:lnSpc>
                <a:spcPts val="1998"/>
              </a:lnSpc>
            </a:pPr>
            <a:r>
              <a:rPr lang="en-US" sz="1500">
                <a:solidFill>
                  <a:srgbClr val="405449"/>
                </a:solidFill>
                <a:latin typeface="Arimo"/>
                <a:ea typeface="Arimo"/>
                <a:cs typeface="Arimo"/>
                <a:sym typeface="Arimo"/>
              </a:rPr>
              <a:t>Activations cachées lstm_1 à lstm_64</a:t>
            </a:r>
          </a:p>
        </p:txBody>
      </p:sp>
      <p:grpSp>
        <p:nvGrpSpPr>
          <p:cNvPr name="Group 22" id="22"/>
          <p:cNvGrpSpPr/>
          <p:nvPr/>
        </p:nvGrpSpPr>
        <p:grpSpPr>
          <a:xfrm rot="0">
            <a:off x="7524750" y="8842924"/>
            <a:ext cx="10096500" cy="895645"/>
            <a:chOff x="0" y="0"/>
            <a:chExt cx="13462000" cy="1194194"/>
          </a:xfrm>
        </p:grpSpPr>
        <p:sp>
          <p:nvSpPr>
            <p:cNvPr name="Freeform 23" id="23"/>
            <p:cNvSpPr/>
            <p:nvPr/>
          </p:nvSpPr>
          <p:spPr>
            <a:xfrm flipH="false" flipV="false" rot="0">
              <a:off x="0" y="0"/>
              <a:ext cx="13462000" cy="1194181"/>
            </a:xfrm>
            <a:custGeom>
              <a:avLst/>
              <a:gdLst/>
              <a:ahLst/>
              <a:cxnLst/>
              <a:rect r="r" b="b" t="t" l="l"/>
              <a:pathLst>
                <a:path h="1194181" w="13462000">
                  <a:moveTo>
                    <a:pt x="0" y="228600"/>
                  </a:moveTo>
                  <a:cubicBezTo>
                    <a:pt x="0" y="102362"/>
                    <a:pt x="102362" y="0"/>
                    <a:pt x="228600" y="0"/>
                  </a:cubicBezTo>
                  <a:lnTo>
                    <a:pt x="13233400" y="0"/>
                  </a:lnTo>
                  <a:cubicBezTo>
                    <a:pt x="13359637" y="0"/>
                    <a:pt x="13462000" y="102362"/>
                    <a:pt x="13462000" y="228600"/>
                  </a:cubicBezTo>
                  <a:lnTo>
                    <a:pt x="13462000" y="965581"/>
                  </a:lnTo>
                  <a:cubicBezTo>
                    <a:pt x="13462000" y="1091819"/>
                    <a:pt x="13359637" y="1194181"/>
                    <a:pt x="13233400" y="1194181"/>
                  </a:cubicBezTo>
                  <a:lnTo>
                    <a:pt x="228600" y="1194181"/>
                  </a:lnTo>
                  <a:cubicBezTo>
                    <a:pt x="102362" y="1194181"/>
                    <a:pt x="0" y="1091819"/>
                    <a:pt x="0" y="965581"/>
                  </a:cubicBezTo>
                  <a:close/>
                </a:path>
              </a:pathLst>
            </a:custGeom>
            <a:solidFill>
              <a:srgbClr val="B6FCB8"/>
            </a:solidFill>
          </p:spPr>
        </p:sp>
      </p:grpSp>
      <p:grpSp>
        <p:nvGrpSpPr>
          <p:cNvPr name="Group 24" id="24"/>
          <p:cNvGrpSpPr/>
          <p:nvPr/>
        </p:nvGrpSpPr>
        <p:grpSpPr>
          <a:xfrm rot="0">
            <a:off x="7715250" y="9085812"/>
            <a:ext cx="238125" cy="190500"/>
            <a:chOff x="0" y="0"/>
            <a:chExt cx="317500" cy="254000"/>
          </a:xfrm>
        </p:grpSpPr>
        <p:sp>
          <p:nvSpPr>
            <p:cNvPr name="Freeform 25" id="25" descr="preencoded.png"/>
            <p:cNvSpPr/>
            <p:nvPr/>
          </p:nvSpPr>
          <p:spPr>
            <a:xfrm flipH="false" flipV="false" rot="0">
              <a:off x="0" y="0"/>
              <a:ext cx="317500" cy="254000"/>
            </a:xfrm>
            <a:custGeom>
              <a:avLst/>
              <a:gdLst/>
              <a:ahLst/>
              <a:cxnLst/>
              <a:rect r="r" b="b" t="t" l="l"/>
              <a:pathLst>
                <a:path h="254000" w="317500">
                  <a:moveTo>
                    <a:pt x="0" y="0"/>
                  </a:moveTo>
                  <a:lnTo>
                    <a:pt x="317500" y="0"/>
                  </a:lnTo>
                  <a:lnTo>
                    <a:pt x="317500" y="254000"/>
                  </a:lnTo>
                  <a:lnTo>
                    <a:pt x="0" y="254000"/>
                  </a:lnTo>
                  <a:lnTo>
                    <a:pt x="0" y="0"/>
                  </a:lnTo>
                  <a:close/>
                </a:path>
              </a:pathLst>
            </a:custGeom>
            <a:blipFill>
              <a:blip r:embed="rId4"/>
              <a:stretch>
                <a:fillRect l="0" t="0" r="0" b="0"/>
              </a:stretch>
            </a:blipFill>
          </p:spPr>
        </p:sp>
      </p:grpSp>
      <p:sp>
        <p:nvSpPr>
          <p:cNvPr name="TextBox 26" id="26"/>
          <p:cNvSpPr txBox="true"/>
          <p:nvPr/>
        </p:nvSpPr>
        <p:spPr>
          <a:xfrm rot="0">
            <a:off x="8143875" y="8989962"/>
            <a:ext cx="9286875" cy="538163"/>
          </a:xfrm>
          <a:prstGeom prst="rect">
            <a:avLst/>
          </a:prstGeom>
        </p:spPr>
        <p:txBody>
          <a:bodyPr anchor="t" rtlCol="false" tIns="0" lIns="0" bIns="0" rIns="0">
            <a:spAutoFit/>
          </a:bodyPr>
          <a:lstStyle/>
          <a:p>
            <a:pPr algn="l">
              <a:lnSpc>
                <a:spcPts val="1998"/>
              </a:lnSpc>
            </a:pPr>
            <a:r>
              <a:rPr lang="en-US" sz="1500" b="true">
                <a:solidFill>
                  <a:srgbClr val="000000"/>
                </a:solidFill>
                <a:latin typeface="Arimo Bold"/>
                <a:ea typeface="Arimo Bold"/>
                <a:cs typeface="Arimo Bold"/>
                <a:sym typeface="Arimo Bold"/>
              </a:rPr>
              <a:t>Résultat :</a:t>
            </a:r>
            <a:r>
              <a:rPr lang="en-US" sz="1500">
                <a:solidFill>
                  <a:srgbClr val="000000"/>
                </a:solidFill>
                <a:latin typeface="Arimo"/>
                <a:ea typeface="Arimo"/>
                <a:cs typeface="Arimo"/>
                <a:sym typeface="Arimo"/>
              </a:rPr>
              <a:t> Un seul vecteur dense par jour = </a:t>
            </a:r>
            <a:r>
              <a:rPr lang="en-US" sz="1500" b="true">
                <a:solidFill>
                  <a:srgbClr val="000000"/>
                </a:solidFill>
                <a:latin typeface="Arimo Bold"/>
                <a:ea typeface="Arimo Bold"/>
                <a:cs typeface="Arimo Bold"/>
                <a:sym typeface="Arimo Bold"/>
              </a:rPr>
              <a:t>physiquement informé</a:t>
            </a:r>
            <a:r>
              <a:rPr lang="en-US" sz="1500">
                <a:solidFill>
                  <a:srgbClr val="000000"/>
                </a:solidFill>
                <a:latin typeface="Arimo"/>
                <a:ea typeface="Arimo"/>
                <a:cs typeface="Arimo"/>
                <a:sym typeface="Arimo"/>
              </a:rPr>
              <a:t> + </a:t>
            </a:r>
            <a:r>
              <a:rPr lang="en-US" sz="1500" b="true">
                <a:solidFill>
                  <a:srgbClr val="000000"/>
                </a:solidFill>
                <a:latin typeface="Arimo Bold"/>
                <a:ea typeface="Arimo Bold"/>
                <a:cs typeface="Arimo Bold"/>
                <a:sym typeface="Arimo Bold"/>
              </a:rPr>
              <a:t>algorithmiquement optimisé</a:t>
            </a:r>
            <a:r>
              <a:rPr lang="en-US" sz="1500">
                <a:solidFill>
                  <a:srgbClr val="000000"/>
                </a:solidFill>
                <a:latin typeface="Arimo"/>
                <a:ea typeface="Arimo"/>
                <a:cs typeface="Arimo"/>
                <a:sym typeface="Arimo"/>
              </a:rPr>
              <a:t>. Principe du pipeline hybride : Représentation + Prédiction.</a:t>
            </a:r>
          </a:p>
        </p:txBody>
      </p:sp>
      <p:sp>
        <p:nvSpPr>
          <p:cNvPr name="TextBox 27" id="27"/>
          <p:cNvSpPr txBox="true"/>
          <p:nvPr/>
        </p:nvSpPr>
        <p:spPr>
          <a:xfrm rot="0">
            <a:off x="17259300" y="9201150"/>
            <a:ext cx="152400" cy="209550"/>
          </a:xfrm>
          <a:prstGeom prst="rect">
            <a:avLst/>
          </a:prstGeom>
        </p:spPr>
        <p:txBody>
          <a:bodyPr anchor="t" rtlCol="false" tIns="0" lIns="0" bIns="0" rIns="0" wrap="none">
            <a:spAutoFit/>
          </a:bodyPr>
          <a:lstStyle/>
          <a:p>
            <a:pPr algn="ctr">
              <a:lnSpc>
                <a:spcPts val="3639"/>
              </a:lnSpc>
              <a:spcBef>
                <a:spcPct val="0"/>
              </a:spcBef>
            </a:pPr>
            <a:r>
              <a:rPr lang="en-US" sz="2599">
                <a:solidFill>
                  <a:srgbClr val="000000"/>
                </a:solidFill>
                <a:latin typeface="Open Sans"/>
                <a:ea typeface="Open Sans"/>
                <a:cs typeface="Open Sans"/>
                <a:sym typeface="Open Sans"/>
              </a:rPr>
              <a:t>10</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EEE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FFA"/>
            </a:solidFill>
          </p:spPr>
        </p:sp>
      </p:grpSp>
      <p:sp>
        <p:nvSpPr>
          <p:cNvPr name="TextBox 6" id="6"/>
          <p:cNvSpPr txBox="true"/>
          <p:nvPr/>
        </p:nvSpPr>
        <p:spPr>
          <a:xfrm rot="0">
            <a:off x="992238" y="1568206"/>
            <a:ext cx="10239080" cy="905027"/>
          </a:xfrm>
          <a:prstGeom prst="rect">
            <a:avLst/>
          </a:prstGeom>
        </p:spPr>
        <p:txBody>
          <a:bodyPr anchor="t" rtlCol="false" tIns="0" lIns="0" bIns="0" rIns="0">
            <a:spAutoFit/>
          </a:bodyPr>
          <a:lstStyle/>
          <a:p>
            <a:pPr algn="l">
              <a:lnSpc>
                <a:spcPts val="6864"/>
              </a:lnSpc>
            </a:pPr>
            <a:r>
              <a:rPr lang="en-US" sz="5500">
                <a:solidFill>
                  <a:srgbClr val="3B4540"/>
                </a:solidFill>
                <a:latin typeface="Fraunces"/>
                <a:ea typeface="Fraunces"/>
                <a:cs typeface="Fraunces"/>
                <a:sym typeface="Fraunces"/>
              </a:rPr>
              <a:t>Les Modèles de Prédiction</a:t>
            </a:r>
          </a:p>
        </p:txBody>
      </p:sp>
      <p:sp>
        <p:nvSpPr>
          <p:cNvPr name="TextBox 7" id="7"/>
          <p:cNvSpPr txBox="true"/>
          <p:nvPr/>
        </p:nvSpPr>
        <p:spPr>
          <a:xfrm rot="0">
            <a:off x="992238" y="3172425"/>
            <a:ext cx="6084694" cy="452437"/>
          </a:xfrm>
          <a:prstGeom prst="rect">
            <a:avLst/>
          </a:prstGeom>
        </p:spPr>
        <p:txBody>
          <a:bodyPr anchor="t" rtlCol="false" tIns="0" lIns="0" bIns="0" rIns="0">
            <a:spAutoFit/>
          </a:bodyPr>
          <a:lstStyle/>
          <a:p>
            <a:pPr algn="l">
              <a:lnSpc>
                <a:spcPts val="3369"/>
              </a:lnSpc>
            </a:pPr>
            <a:r>
              <a:rPr lang="en-US" sz="2700">
                <a:solidFill>
                  <a:srgbClr val="3B4540"/>
                </a:solidFill>
                <a:latin typeface="Fraunces"/>
                <a:ea typeface="Fraunces"/>
                <a:cs typeface="Fraunces"/>
                <a:sym typeface="Fraunces"/>
              </a:rPr>
              <a:t>CatBoost — Modèle Principal</a:t>
            </a:r>
          </a:p>
        </p:txBody>
      </p:sp>
      <p:sp>
        <p:nvSpPr>
          <p:cNvPr name="TextBox 8" id="8"/>
          <p:cNvSpPr txBox="true"/>
          <p:nvPr/>
        </p:nvSpPr>
        <p:spPr>
          <a:xfrm rot="0">
            <a:off x="992238" y="3803599"/>
            <a:ext cx="7805890" cy="1012031"/>
          </a:xfrm>
          <a:prstGeom prst="rect">
            <a:avLst/>
          </a:prstGeom>
        </p:spPr>
        <p:txBody>
          <a:bodyPr anchor="t" rtlCol="false" tIns="0" lIns="0" bIns="0" rIns="0">
            <a:spAutoFit/>
          </a:bodyPr>
          <a:lstStyle/>
          <a:p>
            <a:pPr algn="l">
              <a:lnSpc>
                <a:spcPts val="3511"/>
              </a:lnSpc>
            </a:pPr>
            <a:r>
              <a:rPr lang="en-US" sz="2200">
                <a:solidFill>
                  <a:srgbClr val="405449"/>
                </a:solidFill>
                <a:latin typeface="Arimo"/>
                <a:ea typeface="Arimo"/>
                <a:cs typeface="Arimo"/>
                <a:sym typeface="Arimo"/>
              </a:rPr>
              <a:t>Choisi pour sa robustesse et sa gestion des spécificités météorologiques et géographiques.</a:t>
            </a:r>
          </a:p>
        </p:txBody>
      </p:sp>
      <p:sp>
        <p:nvSpPr>
          <p:cNvPr name="TextBox 9" id="9"/>
          <p:cNvSpPr txBox="true"/>
          <p:nvPr/>
        </p:nvSpPr>
        <p:spPr>
          <a:xfrm rot="0">
            <a:off x="992238" y="4965944"/>
            <a:ext cx="7805890" cy="3634683"/>
          </a:xfrm>
          <a:prstGeom prst="rect">
            <a:avLst/>
          </a:prstGeom>
        </p:spPr>
        <p:txBody>
          <a:bodyPr anchor="t" rtlCol="false" tIns="0" lIns="0" bIns="0" rIns="0">
            <a:spAutoFit/>
          </a:bodyPr>
          <a:lstStyle/>
          <a:p>
            <a:pPr algn="l" marL="530860" indent="-265430" lvl="1">
              <a:lnSpc>
                <a:spcPts val="3511"/>
              </a:lnSpc>
              <a:buFont typeface="Arial"/>
              <a:buChar char="•"/>
            </a:pPr>
            <a:r>
              <a:rPr lang="en-US" b="true" sz="2200">
                <a:solidFill>
                  <a:srgbClr val="405449"/>
                </a:solidFill>
                <a:latin typeface="Arimo Bold"/>
                <a:ea typeface="Arimo Bold"/>
                <a:cs typeface="Arimo Bold"/>
                <a:sym typeface="Arimo Bold"/>
              </a:rPr>
              <a:t>Gestion native</a:t>
            </a:r>
            <a:r>
              <a:rPr lang="en-US" sz="2200">
                <a:solidFill>
                  <a:srgbClr val="405449"/>
                </a:solidFill>
                <a:latin typeface="Arimo"/>
                <a:ea typeface="Arimo"/>
                <a:cs typeface="Arimo"/>
                <a:sym typeface="Arimo"/>
              </a:rPr>
              <a:t> des variables catégorielles (ville).</a:t>
            </a:r>
          </a:p>
          <a:p>
            <a:pPr algn="l" marL="530860" indent="-265430" lvl="1">
              <a:lnSpc>
                <a:spcPts val="3511"/>
              </a:lnSpc>
              <a:buFont typeface="Arial"/>
              <a:buChar char="•"/>
            </a:pPr>
            <a:r>
              <a:rPr lang="en-US" b="true" sz="2200">
                <a:solidFill>
                  <a:srgbClr val="405449"/>
                </a:solidFill>
                <a:latin typeface="Arimo Bold"/>
                <a:ea typeface="Arimo Bold"/>
                <a:cs typeface="Arimo Bold"/>
                <a:sym typeface="Arimo Bold"/>
              </a:rPr>
              <a:t>Robuste</a:t>
            </a:r>
            <a:r>
              <a:rPr lang="en-US" sz="2200">
                <a:solidFill>
                  <a:srgbClr val="405449"/>
                </a:solidFill>
                <a:latin typeface="Arimo"/>
                <a:ea typeface="Arimo"/>
                <a:cs typeface="Arimo"/>
                <a:sym typeface="Arimo"/>
              </a:rPr>
              <a:t> aux valeurs manquantes, sans normalisation requise.</a:t>
            </a:r>
          </a:p>
          <a:p>
            <a:pPr algn="l" marL="530860" indent="-265430" lvl="1">
              <a:lnSpc>
                <a:spcPts val="3511"/>
              </a:lnSpc>
              <a:buFont typeface="Arial"/>
              <a:buChar char="•"/>
            </a:pPr>
            <a:r>
              <a:rPr lang="en-US" b="true" sz="2200">
                <a:solidFill>
                  <a:srgbClr val="405449"/>
                </a:solidFill>
                <a:latin typeface="Arimo Bold"/>
                <a:ea typeface="Arimo Bold"/>
                <a:cs typeface="Arimo Bold"/>
                <a:sym typeface="Arimo Bold"/>
              </a:rPr>
              <a:t>Boosting ordonné</a:t>
            </a:r>
            <a:r>
              <a:rPr lang="en-US" sz="2200">
                <a:solidFill>
                  <a:srgbClr val="405449"/>
                </a:solidFill>
                <a:latin typeface="Arimo"/>
                <a:ea typeface="Arimo"/>
                <a:cs typeface="Arimo"/>
                <a:sym typeface="Arimo"/>
              </a:rPr>
              <a:t> pour réduire le surapprentissage temporel.</a:t>
            </a:r>
          </a:p>
          <a:p>
            <a:pPr algn="l" marL="530860" indent="-265430" lvl="1">
              <a:lnSpc>
                <a:spcPts val="3511"/>
              </a:lnSpc>
              <a:buFont typeface="Arial"/>
              <a:buChar char="•"/>
            </a:pPr>
            <a:r>
              <a:rPr lang="en-US" b="true" sz="2200">
                <a:solidFill>
                  <a:srgbClr val="405449"/>
                </a:solidFill>
                <a:latin typeface="Consolas Bold"/>
                <a:ea typeface="Consolas Bold"/>
                <a:cs typeface="Consolas Bold"/>
                <a:sym typeface="Consolas Bold"/>
              </a:rPr>
              <a:t>Hyperparamètres :</a:t>
            </a:r>
            <a:r>
              <a:rPr lang="en-US" sz="2200">
                <a:solidFill>
                  <a:srgbClr val="405449"/>
                </a:solidFill>
                <a:latin typeface="Consolas"/>
                <a:ea typeface="Consolas"/>
                <a:cs typeface="Consolas"/>
                <a:sym typeface="Consolas"/>
              </a:rPr>
              <a:t> iterations=500, learning_rate=0.05, depth=6, early_stopping=50.</a:t>
            </a:r>
          </a:p>
        </p:txBody>
      </p:sp>
      <p:sp>
        <p:nvSpPr>
          <p:cNvPr name="TextBox 10" id="10"/>
          <p:cNvSpPr txBox="true"/>
          <p:nvPr/>
        </p:nvSpPr>
        <p:spPr>
          <a:xfrm rot="0">
            <a:off x="9499406" y="3172425"/>
            <a:ext cx="7805890" cy="895350"/>
          </a:xfrm>
          <a:prstGeom prst="rect">
            <a:avLst/>
          </a:prstGeom>
        </p:spPr>
        <p:txBody>
          <a:bodyPr anchor="t" rtlCol="false" tIns="0" lIns="0" bIns="0" rIns="0">
            <a:spAutoFit/>
          </a:bodyPr>
          <a:lstStyle/>
          <a:p>
            <a:pPr algn="l">
              <a:lnSpc>
                <a:spcPts val="3369"/>
              </a:lnSpc>
            </a:pPr>
            <a:r>
              <a:rPr lang="en-US" sz="2700">
                <a:solidFill>
                  <a:srgbClr val="3B4540"/>
                </a:solidFill>
                <a:latin typeface="Fraunces"/>
                <a:ea typeface="Fraunces"/>
                <a:cs typeface="Fraunces"/>
                <a:sym typeface="Fraunces"/>
              </a:rPr>
              <a:t>Réseau Keras Feed-Forward — Comparaison</a:t>
            </a:r>
          </a:p>
        </p:txBody>
      </p:sp>
      <p:sp>
        <p:nvSpPr>
          <p:cNvPr name="TextBox 11" id="11"/>
          <p:cNvSpPr txBox="true"/>
          <p:nvPr/>
        </p:nvSpPr>
        <p:spPr>
          <a:xfrm rot="0">
            <a:off x="9499406" y="4246512"/>
            <a:ext cx="7805890" cy="1012031"/>
          </a:xfrm>
          <a:prstGeom prst="rect">
            <a:avLst/>
          </a:prstGeom>
        </p:spPr>
        <p:txBody>
          <a:bodyPr anchor="t" rtlCol="false" tIns="0" lIns="0" bIns="0" rIns="0">
            <a:spAutoFit/>
          </a:bodyPr>
          <a:lstStyle/>
          <a:p>
            <a:pPr algn="l">
              <a:lnSpc>
                <a:spcPts val="3511"/>
              </a:lnSpc>
            </a:pPr>
            <a:r>
              <a:rPr lang="en-US" sz="2200">
                <a:solidFill>
                  <a:srgbClr val="405449"/>
                </a:solidFill>
                <a:latin typeface="Arimo"/>
                <a:ea typeface="Arimo"/>
                <a:cs typeface="Arimo"/>
                <a:sym typeface="Arimo"/>
              </a:rPr>
              <a:t>Un réseau simple utilisé pour évaluer l'impact du déséquilibre des classes.</a:t>
            </a:r>
          </a:p>
        </p:txBody>
      </p:sp>
      <p:sp>
        <p:nvSpPr>
          <p:cNvPr name="TextBox 12" id="12"/>
          <p:cNvSpPr txBox="true"/>
          <p:nvPr/>
        </p:nvSpPr>
        <p:spPr>
          <a:xfrm rot="0">
            <a:off x="9499406" y="5380282"/>
            <a:ext cx="7805890" cy="3167663"/>
          </a:xfrm>
          <a:prstGeom prst="rect">
            <a:avLst/>
          </a:prstGeom>
        </p:spPr>
        <p:txBody>
          <a:bodyPr anchor="t" rtlCol="false" tIns="0" lIns="0" bIns="0" rIns="0">
            <a:spAutoFit/>
          </a:bodyPr>
          <a:lstStyle/>
          <a:p>
            <a:pPr algn="l" marL="530860" indent="-265430" lvl="1">
              <a:lnSpc>
                <a:spcPts val="3511"/>
              </a:lnSpc>
              <a:buFont typeface="Arial"/>
              <a:buChar char="•"/>
            </a:pPr>
            <a:r>
              <a:rPr lang="en-US" b="true" sz="2200">
                <a:solidFill>
                  <a:srgbClr val="405449"/>
                </a:solidFill>
                <a:latin typeface="Consolas Bold"/>
                <a:ea typeface="Consolas Bold"/>
                <a:cs typeface="Consolas Bold"/>
                <a:sym typeface="Consolas Bold"/>
              </a:rPr>
              <a:t>Architecture :</a:t>
            </a:r>
            <a:r>
              <a:rPr lang="en-US" sz="2200">
                <a:solidFill>
                  <a:srgbClr val="405449"/>
                </a:solidFill>
                <a:latin typeface="Consolas"/>
                <a:ea typeface="Consolas"/>
                <a:cs typeface="Consolas"/>
                <a:sym typeface="Consolas"/>
              </a:rPr>
              <a:t> Dense(128) → Dropout(0.3) → Dense(64) → Dropout(0.3) → sigmoid.</a:t>
            </a:r>
          </a:p>
          <a:p>
            <a:pPr algn="l" marL="530860" indent="-265430" lvl="1">
              <a:lnSpc>
                <a:spcPts val="3511"/>
              </a:lnSpc>
              <a:buFont typeface="Arial"/>
              <a:buChar char="•"/>
            </a:pPr>
            <a:r>
              <a:rPr lang="en-US" b="true" sz="2200">
                <a:solidFill>
                  <a:srgbClr val="405449"/>
                </a:solidFill>
                <a:latin typeface="Arimo Bold"/>
                <a:ea typeface="Arimo Bold"/>
                <a:cs typeface="Arimo Bold"/>
                <a:sym typeface="Arimo Bold"/>
              </a:rPr>
              <a:t>Souffre du "collapse de classe" :</a:t>
            </a:r>
            <a:r>
              <a:rPr lang="en-US" sz="2200">
                <a:solidFill>
                  <a:srgbClr val="405449"/>
                </a:solidFill>
                <a:latin typeface="Arimo"/>
                <a:ea typeface="Arimo"/>
                <a:cs typeface="Arimo"/>
                <a:sym typeface="Arimo"/>
              </a:rPr>
              <a:t> prédit systématiquement "pas de pluie".</a:t>
            </a:r>
          </a:p>
          <a:p>
            <a:pPr algn="l" marL="530860" indent="-265430" lvl="1">
              <a:lnSpc>
                <a:spcPts val="3511"/>
              </a:lnSpc>
              <a:buFont typeface="Arial"/>
              <a:buChar char="•"/>
            </a:pPr>
            <a:r>
              <a:rPr lang="en-US" b="true" sz="2200">
                <a:solidFill>
                  <a:srgbClr val="405449"/>
                </a:solidFill>
                <a:latin typeface="Arimo Bold"/>
                <a:ea typeface="Arimo Bold"/>
                <a:cs typeface="Arimo Bold"/>
                <a:sym typeface="Arimo Bold"/>
              </a:rPr>
              <a:t>Métriques trompeuses :</a:t>
            </a:r>
            <a:r>
              <a:rPr lang="en-US" sz="2200">
                <a:solidFill>
                  <a:srgbClr val="405449"/>
                </a:solidFill>
                <a:latin typeface="Arimo"/>
                <a:ea typeface="Arimo"/>
                <a:cs typeface="Arimo"/>
                <a:sym typeface="Arimo"/>
              </a:rPr>
              <a:t> Accuracy apparente de </a:t>
            </a:r>
            <a:r>
              <a:rPr lang="en-US" b="true" sz="2200">
                <a:solidFill>
                  <a:srgbClr val="405449"/>
                </a:solidFill>
                <a:latin typeface="Arimo Bold"/>
                <a:ea typeface="Arimo Bold"/>
                <a:cs typeface="Arimo Bold"/>
                <a:sym typeface="Arimo Bold"/>
              </a:rPr>
              <a:t>83%</a:t>
            </a:r>
            <a:r>
              <a:rPr lang="en-US" sz="2200">
                <a:solidFill>
                  <a:srgbClr val="405449"/>
                </a:solidFill>
                <a:latin typeface="Arimo"/>
                <a:ea typeface="Arimo"/>
                <a:cs typeface="Arimo"/>
                <a:sym typeface="Arimo"/>
              </a:rPr>
              <a:t>, mais F1-score = 0.00 sur la classe positive (pluie).</a:t>
            </a:r>
          </a:p>
        </p:txBody>
      </p:sp>
      <p:sp>
        <p:nvSpPr>
          <p:cNvPr name="TextBox 13" id="13"/>
          <p:cNvSpPr txBox="true"/>
          <p:nvPr/>
        </p:nvSpPr>
        <p:spPr>
          <a:xfrm rot="0">
            <a:off x="17259300" y="9201150"/>
            <a:ext cx="152400" cy="209550"/>
          </a:xfrm>
          <a:prstGeom prst="rect">
            <a:avLst/>
          </a:prstGeom>
        </p:spPr>
        <p:txBody>
          <a:bodyPr anchor="t" rtlCol="false" tIns="0" lIns="0" bIns="0" rIns="0" wrap="none">
            <a:spAutoFit/>
          </a:bodyPr>
          <a:lstStyle/>
          <a:p>
            <a:pPr algn="ctr">
              <a:lnSpc>
                <a:spcPts val="3639"/>
              </a:lnSpc>
              <a:spcBef>
                <a:spcPct val="0"/>
              </a:spcBef>
            </a:pPr>
            <a:r>
              <a:rPr lang="en-US" sz="2599">
                <a:solidFill>
                  <a:srgbClr val="000000"/>
                </a:solidFill>
                <a:latin typeface="Open Sans"/>
                <a:ea typeface="Open Sans"/>
                <a:cs typeface="Open Sans"/>
                <a:sym typeface="Open San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EEE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FFA"/>
            </a:solidFill>
          </p:spPr>
        </p:sp>
      </p:grpSp>
      <p:grpSp>
        <p:nvGrpSpPr>
          <p:cNvPr name="Group 6" id="6"/>
          <p:cNvGrpSpPr/>
          <p:nvPr/>
        </p:nvGrpSpPr>
        <p:grpSpPr>
          <a:xfrm rot="0">
            <a:off x="16058359" y="9688982"/>
            <a:ext cx="2143687" cy="512064"/>
            <a:chOff x="0" y="0"/>
            <a:chExt cx="2858249" cy="682752"/>
          </a:xfrm>
        </p:grpSpPr>
        <p:sp>
          <p:nvSpPr>
            <p:cNvPr name="Freeform 7" id="7" descr="preencoded.png">
              <a:hlinkClick r:id="rId3" tooltip="https://gamma.app/?utm_source=made-with-gamma"/>
            </p:cNvPr>
            <p:cNvSpPr/>
            <p:nvPr/>
          </p:nvSpPr>
          <p:spPr>
            <a:xfrm flipH="false" flipV="false" rot="0">
              <a:off x="0" y="0"/>
              <a:ext cx="2858262" cy="682752"/>
            </a:xfrm>
            <a:custGeom>
              <a:avLst/>
              <a:gdLst/>
              <a:ahLst/>
              <a:cxnLst/>
              <a:rect r="r" b="b" t="t" l="l"/>
              <a:pathLst>
                <a:path h="682752" w="2858262">
                  <a:moveTo>
                    <a:pt x="0" y="0"/>
                  </a:moveTo>
                  <a:lnTo>
                    <a:pt x="2858262" y="0"/>
                  </a:lnTo>
                  <a:lnTo>
                    <a:pt x="2858262" y="682752"/>
                  </a:lnTo>
                  <a:lnTo>
                    <a:pt x="0" y="682752"/>
                  </a:lnTo>
                  <a:lnTo>
                    <a:pt x="0" y="0"/>
                  </a:lnTo>
                  <a:close/>
                </a:path>
              </a:pathLst>
            </a:custGeom>
            <a:blipFill>
              <a:blip r:embed="rId4"/>
              <a:stretch>
                <a:fillRect l="0" t="0" r="0"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0" t="0" r="0" b="0"/>
              </a:stretch>
            </a:blipFill>
          </p:spPr>
        </p:sp>
      </p:grpSp>
      <p:sp>
        <p:nvSpPr>
          <p:cNvPr name="TextBox 10" id="10"/>
          <p:cNvSpPr txBox="true"/>
          <p:nvPr/>
        </p:nvSpPr>
        <p:spPr>
          <a:xfrm rot="0">
            <a:off x="976760" y="843705"/>
            <a:ext cx="8708527" cy="900703"/>
          </a:xfrm>
          <a:prstGeom prst="rect">
            <a:avLst/>
          </a:prstGeom>
        </p:spPr>
        <p:txBody>
          <a:bodyPr anchor="t" rtlCol="false" tIns="0" lIns="0" bIns="0" rIns="0">
            <a:spAutoFit/>
          </a:bodyPr>
          <a:lstStyle/>
          <a:p>
            <a:pPr algn="l">
              <a:lnSpc>
                <a:spcPts val="6739"/>
              </a:lnSpc>
            </a:pPr>
            <a:r>
              <a:rPr lang="en-US" sz="5400">
                <a:solidFill>
                  <a:srgbClr val="3B4540"/>
                </a:solidFill>
                <a:latin typeface="Fraunces"/>
                <a:ea typeface="Fraunces"/>
                <a:cs typeface="Fraunces"/>
                <a:sym typeface="Fraunces"/>
              </a:rPr>
              <a:t>Résultats des Modèles</a:t>
            </a:r>
          </a:p>
        </p:txBody>
      </p:sp>
      <p:sp>
        <p:nvSpPr>
          <p:cNvPr name="TextBox 11" id="11"/>
          <p:cNvSpPr txBox="true"/>
          <p:nvPr/>
        </p:nvSpPr>
        <p:spPr>
          <a:xfrm rot="0">
            <a:off x="976760" y="2070792"/>
            <a:ext cx="9476480" cy="971550"/>
          </a:xfrm>
          <a:prstGeom prst="rect">
            <a:avLst/>
          </a:prstGeom>
        </p:spPr>
        <p:txBody>
          <a:bodyPr anchor="t" rtlCol="false" tIns="0" lIns="0" bIns="0" rIns="0">
            <a:spAutoFit/>
          </a:bodyPr>
          <a:lstStyle/>
          <a:p>
            <a:pPr algn="l">
              <a:lnSpc>
                <a:spcPts val="3326"/>
              </a:lnSpc>
            </a:pPr>
            <a:r>
              <a:rPr lang="en-US" sz="2100">
                <a:solidFill>
                  <a:srgbClr val="405449"/>
                </a:solidFill>
                <a:latin typeface="Arimo"/>
                <a:ea typeface="Arimo"/>
                <a:cs typeface="Arimo"/>
                <a:sym typeface="Arimo"/>
              </a:rPr>
              <a:t>Les modèles ont été évalués sur un jeu de test totalement indépendant couvrant les années 2024 à 2026 (3 492 observations).</a:t>
            </a:r>
          </a:p>
        </p:txBody>
      </p:sp>
      <p:sp>
        <p:nvSpPr>
          <p:cNvPr name="TextBox 12" id="12"/>
          <p:cNvSpPr txBox="true"/>
          <p:nvPr/>
        </p:nvSpPr>
        <p:spPr>
          <a:xfrm rot="0">
            <a:off x="976760" y="3616519"/>
            <a:ext cx="4956572" cy="445589"/>
          </a:xfrm>
          <a:prstGeom prst="rect">
            <a:avLst/>
          </a:prstGeom>
        </p:spPr>
        <p:txBody>
          <a:bodyPr anchor="t" rtlCol="false" tIns="0" lIns="0" bIns="0" rIns="0">
            <a:spAutoFit/>
          </a:bodyPr>
          <a:lstStyle/>
          <a:p>
            <a:pPr algn="l">
              <a:lnSpc>
                <a:spcPts val="3369"/>
              </a:lnSpc>
            </a:pPr>
            <a:r>
              <a:rPr lang="en-US" sz="2700">
                <a:solidFill>
                  <a:srgbClr val="3B4540"/>
                </a:solidFill>
                <a:latin typeface="Fraunces"/>
                <a:ea typeface="Fraunces"/>
                <a:cs typeface="Fraunces"/>
                <a:sym typeface="Fraunces"/>
              </a:rPr>
              <a:t>CatBoost Performance</a:t>
            </a:r>
          </a:p>
        </p:txBody>
      </p:sp>
      <p:sp>
        <p:nvSpPr>
          <p:cNvPr name="TextBox 13" id="13"/>
          <p:cNvSpPr txBox="true"/>
          <p:nvPr/>
        </p:nvSpPr>
        <p:spPr>
          <a:xfrm rot="0">
            <a:off x="976760" y="4251131"/>
            <a:ext cx="4397873" cy="1606753"/>
          </a:xfrm>
          <a:prstGeom prst="rect">
            <a:avLst/>
          </a:prstGeom>
        </p:spPr>
        <p:txBody>
          <a:bodyPr anchor="t" rtlCol="false" tIns="0" lIns="0" bIns="0" rIns="0">
            <a:spAutoFit/>
          </a:bodyPr>
          <a:lstStyle/>
          <a:p>
            <a:pPr algn="l" marL="506730" indent="-253365" lvl="1">
              <a:lnSpc>
                <a:spcPts val="3326"/>
              </a:lnSpc>
              <a:buFont typeface="Arial"/>
              <a:buChar char="•"/>
            </a:pPr>
            <a:r>
              <a:rPr lang="en-US" b="true" sz="2100">
                <a:solidFill>
                  <a:srgbClr val="405449"/>
                </a:solidFill>
                <a:latin typeface="Arimo Bold"/>
                <a:ea typeface="Arimo Bold"/>
                <a:cs typeface="Arimo Bold"/>
                <a:sym typeface="Arimo Bold"/>
              </a:rPr>
              <a:t>ROC AUC :</a:t>
            </a:r>
            <a:r>
              <a:rPr lang="en-US" sz="2100">
                <a:solidFill>
                  <a:srgbClr val="405449"/>
                </a:solidFill>
                <a:latin typeface="Arimo"/>
                <a:ea typeface="Arimo"/>
                <a:cs typeface="Arimo"/>
                <a:sym typeface="Arimo"/>
              </a:rPr>
              <a:t> 0.8335</a:t>
            </a:r>
          </a:p>
          <a:p>
            <a:pPr algn="l" marL="506730" indent="-253365" lvl="1">
              <a:lnSpc>
                <a:spcPts val="3326"/>
              </a:lnSpc>
              <a:buFont typeface="Arial"/>
              <a:buChar char="•"/>
            </a:pPr>
            <a:r>
              <a:rPr lang="en-US" b="true" sz="2100">
                <a:solidFill>
                  <a:srgbClr val="405449"/>
                </a:solidFill>
                <a:latin typeface="Arimo Bold"/>
                <a:ea typeface="Arimo Bold"/>
                <a:cs typeface="Arimo Bold"/>
                <a:sym typeface="Arimo Bold"/>
              </a:rPr>
              <a:t>Accuracy :</a:t>
            </a:r>
            <a:r>
              <a:rPr lang="en-US" sz="2100">
                <a:solidFill>
                  <a:srgbClr val="405449"/>
                </a:solidFill>
                <a:latin typeface="Arimo"/>
                <a:ea typeface="Arimo"/>
                <a:cs typeface="Arimo"/>
                <a:sym typeface="Arimo"/>
              </a:rPr>
              <a:t> 84.82%</a:t>
            </a:r>
          </a:p>
          <a:p>
            <a:pPr algn="l" marL="506730" indent="-253365" lvl="1">
              <a:lnSpc>
                <a:spcPts val="3326"/>
              </a:lnSpc>
              <a:buFont typeface="Arial"/>
              <a:buChar char="•"/>
            </a:pPr>
            <a:r>
              <a:rPr lang="en-US" b="true" sz="2100">
                <a:solidFill>
                  <a:srgbClr val="405449"/>
                </a:solidFill>
                <a:latin typeface="Arimo Bold"/>
                <a:ea typeface="Arimo Bold"/>
                <a:cs typeface="Arimo Bold"/>
                <a:sym typeface="Arimo Bold"/>
              </a:rPr>
              <a:t>F1 (classe positive) :</a:t>
            </a:r>
            <a:r>
              <a:rPr lang="en-US" sz="2100">
                <a:solidFill>
                  <a:srgbClr val="405449"/>
                </a:solidFill>
                <a:latin typeface="Arimo"/>
                <a:ea typeface="Arimo"/>
                <a:cs typeface="Arimo"/>
                <a:sym typeface="Arimo"/>
              </a:rPr>
              <a:t> 0.41</a:t>
            </a:r>
          </a:p>
        </p:txBody>
      </p:sp>
      <p:sp>
        <p:nvSpPr>
          <p:cNvPr name="TextBox 14" id="14"/>
          <p:cNvSpPr txBox="true"/>
          <p:nvPr/>
        </p:nvSpPr>
        <p:spPr>
          <a:xfrm rot="0">
            <a:off x="976760" y="6019352"/>
            <a:ext cx="4397873" cy="1414463"/>
          </a:xfrm>
          <a:prstGeom prst="rect">
            <a:avLst/>
          </a:prstGeom>
        </p:spPr>
        <p:txBody>
          <a:bodyPr anchor="t" rtlCol="false" tIns="0" lIns="0" bIns="0" rIns="0">
            <a:spAutoFit/>
          </a:bodyPr>
          <a:lstStyle/>
          <a:p>
            <a:pPr algn="l">
              <a:lnSpc>
                <a:spcPts val="3326"/>
              </a:lnSpc>
            </a:pPr>
            <a:r>
              <a:rPr lang="en-US" sz="2100">
                <a:solidFill>
                  <a:srgbClr val="405449"/>
                </a:solidFill>
                <a:latin typeface="Arimo"/>
                <a:ea typeface="Arimo"/>
                <a:cs typeface="Arimo"/>
                <a:sym typeface="Arimo"/>
              </a:rPr>
              <a:t>Sur le jeu de validation (2023), CatBoost a atteint un </a:t>
            </a:r>
            <a:r>
              <a:rPr lang="en-US" sz="2100" b="true">
                <a:solidFill>
                  <a:srgbClr val="405449"/>
                </a:solidFill>
                <a:latin typeface="Arimo Bold"/>
                <a:ea typeface="Arimo Bold"/>
                <a:cs typeface="Arimo Bold"/>
                <a:sym typeface="Arimo Bold"/>
              </a:rPr>
              <a:t>ROC AUC de 0.8727</a:t>
            </a:r>
            <a:r>
              <a:rPr lang="en-US" sz="2100">
                <a:solidFill>
                  <a:srgbClr val="405449"/>
                </a:solidFill>
                <a:latin typeface="Arimo"/>
                <a:ea typeface="Arimo"/>
                <a:cs typeface="Arimo"/>
                <a:sym typeface="Arimo"/>
              </a:rPr>
              <a:t>.</a:t>
            </a:r>
          </a:p>
        </p:txBody>
      </p:sp>
      <p:sp>
        <p:nvSpPr>
          <p:cNvPr name="TextBox 15" id="15"/>
          <p:cNvSpPr txBox="true"/>
          <p:nvPr/>
        </p:nvSpPr>
        <p:spPr>
          <a:xfrm rot="0">
            <a:off x="6064891" y="3616519"/>
            <a:ext cx="4397873" cy="881653"/>
          </a:xfrm>
          <a:prstGeom prst="rect">
            <a:avLst/>
          </a:prstGeom>
        </p:spPr>
        <p:txBody>
          <a:bodyPr anchor="t" rtlCol="false" tIns="0" lIns="0" bIns="0" rIns="0">
            <a:spAutoFit/>
          </a:bodyPr>
          <a:lstStyle/>
          <a:p>
            <a:pPr algn="l">
              <a:lnSpc>
                <a:spcPts val="3369"/>
              </a:lnSpc>
            </a:pPr>
            <a:r>
              <a:rPr lang="en-US" sz="2700">
                <a:solidFill>
                  <a:srgbClr val="3B4540"/>
                </a:solidFill>
                <a:latin typeface="Fraunces"/>
                <a:ea typeface="Fraunces"/>
                <a:cs typeface="Fraunces"/>
                <a:sym typeface="Fraunces"/>
              </a:rPr>
              <a:t>Keras Feed-Forward Performance</a:t>
            </a:r>
          </a:p>
        </p:txBody>
      </p:sp>
      <p:sp>
        <p:nvSpPr>
          <p:cNvPr name="TextBox 16" id="16"/>
          <p:cNvSpPr txBox="true"/>
          <p:nvPr/>
        </p:nvSpPr>
        <p:spPr>
          <a:xfrm rot="0">
            <a:off x="6064891" y="4687195"/>
            <a:ext cx="4397873" cy="1606753"/>
          </a:xfrm>
          <a:prstGeom prst="rect">
            <a:avLst/>
          </a:prstGeom>
        </p:spPr>
        <p:txBody>
          <a:bodyPr anchor="t" rtlCol="false" tIns="0" lIns="0" bIns="0" rIns="0">
            <a:spAutoFit/>
          </a:bodyPr>
          <a:lstStyle/>
          <a:p>
            <a:pPr algn="l" marL="506730" indent="-253365" lvl="1">
              <a:lnSpc>
                <a:spcPts val="3326"/>
              </a:lnSpc>
              <a:buFont typeface="Arial"/>
              <a:buChar char="•"/>
            </a:pPr>
            <a:r>
              <a:rPr lang="en-US" b="true" sz="2100">
                <a:solidFill>
                  <a:srgbClr val="405449"/>
                </a:solidFill>
                <a:latin typeface="Arimo Bold"/>
                <a:ea typeface="Arimo Bold"/>
                <a:cs typeface="Arimo Bold"/>
                <a:sym typeface="Arimo Bold"/>
              </a:rPr>
              <a:t>ROC AUC :</a:t>
            </a:r>
            <a:r>
              <a:rPr lang="en-US" sz="2100">
                <a:solidFill>
                  <a:srgbClr val="405449"/>
                </a:solidFill>
                <a:latin typeface="Arimo"/>
                <a:ea typeface="Arimo"/>
                <a:cs typeface="Arimo"/>
                <a:sym typeface="Arimo"/>
              </a:rPr>
              <a:t> 0.7561</a:t>
            </a:r>
          </a:p>
          <a:p>
            <a:pPr algn="l" marL="506730" indent="-253365" lvl="1">
              <a:lnSpc>
                <a:spcPts val="3326"/>
              </a:lnSpc>
              <a:buFont typeface="Arial"/>
              <a:buChar char="•"/>
            </a:pPr>
            <a:r>
              <a:rPr lang="en-US" b="true" sz="2100">
                <a:solidFill>
                  <a:srgbClr val="405449"/>
                </a:solidFill>
                <a:latin typeface="Arimo Bold"/>
                <a:ea typeface="Arimo Bold"/>
                <a:cs typeface="Arimo Bold"/>
                <a:sym typeface="Arimo Bold"/>
              </a:rPr>
              <a:t>Accuracy :</a:t>
            </a:r>
            <a:r>
              <a:rPr lang="en-US" sz="2100">
                <a:solidFill>
                  <a:srgbClr val="405449"/>
                </a:solidFill>
                <a:latin typeface="Arimo"/>
                <a:ea typeface="Arimo"/>
                <a:cs typeface="Arimo"/>
                <a:sym typeface="Arimo"/>
              </a:rPr>
              <a:t> ~83%</a:t>
            </a:r>
          </a:p>
          <a:p>
            <a:pPr algn="l" marL="506730" indent="-253365" lvl="1">
              <a:lnSpc>
                <a:spcPts val="3326"/>
              </a:lnSpc>
              <a:buFont typeface="Arial"/>
              <a:buChar char="•"/>
            </a:pPr>
            <a:r>
              <a:rPr lang="en-US" b="true" sz="2100">
                <a:solidFill>
                  <a:srgbClr val="405449"/>
                </a:solidFill>
                <a:latin typeface="Arimo Bold"/>
                <a:ea typeface="Arimo Bold"/>
                <a:cs typeface="Arimo Bold"/>
                <a:sym typeface="Arimo Bold"/>
              </a:rPr>
              <a:t>F1 (classe positive) :</a:t>
            </a:r>
            <a:r>
              <a:rPr lang="en-US" sz="2100">
                <a:solidFill>
                  <a:srgbClr val="405449"/>
                </a:solidFill>
                <a:latin typeface="Arimo"/>
                <a:ea typeface="Arimo"/>
                <a:cs typeface="Arimo"/>
                <a:sym typeface="Arimo"/>
              </a:rPr>
              <a:t> 0.00</a:t>
            </a:r>
          </a:p>
        </p:txBody>
      </p:sp>
      <p:grpSp>
        <p:nvGrpSpPr>
          <p:cNvPr name="Group 17" id="17"/>
          <p:cNvGrpSpPr/>
          <p:nvPr/>
        </p:nvGrpSpPr>
        <p:grpSpPr>
          <a:xfrm rot="0">
            <a:off x="6064891" y="6602911"/>
            <a:ext cx="4397873" cy="2502694"/>
            <a:chOff x="0" y="0"/>
            <a:chExt cx="5863831" cy="3336925"/>
          </a:xfrm>
        </p:grpSpPr>
        <p:sp>
          <p:nvSpPr>
            <p:cNvPr name="Freeform 18" id="18"/>
            <p:cNvSpPr/>
            <p:nvPr/>
          </p:nvSpPr>
          <p:spPr>
            <a:xfrm flipH="false" flipV="false" rot="0">
              <a:off x="0" y="0"/>
              <a:ext cx="5863844" cy="3336925"/>
            </a:xfrm>
            <a:custGeom>
              <a:avLst/>
              <a:gdLst/>
              <a:ahLst/>
              <a:cxnLst/>
              <a:rect r="r" b="b" t="t" l="l"/>
              <a:pathLst>
                <a:path h="3336925" w="5863844">
                  <a:moveTo>
                    <a:pt x="0" y="334899"/>
                  </a:moveTo>
                  <a:cubicBezTo>
                    <a:pt x="0" y="149987"/>
                    <a:pt x="149987" y="0"/>
                    <a:pt x="334899" y="0"/>
                  </a:cubicBezTo>
                  <a:lnTo>
                    <a:pt x="5528945" y="0"/>
                  </a:lnTo>
                  <a:cubicBezTo>
                    <a:pt x="5713857" y="0"/>
                    <a:pt x="5863844" y="149987"/>
                    <a:pt x="5863844" y="334899"/>
                  </a:cubicBezTo>
                  <a:lnTo>
                    <a:pt x="5863844" y="3002026"/>
                  </a:lnTo>
                  <a:cubicBezTo>
                    <a:pt x="5863844" y="3186938"/>
                    <a:pt x="5713857" y="3336925"/>
                    <a:pt x="5528945" y="3336925"/>
                  </a:cubicBezTo>
                  <a:lnTo>
                    <a:pt x="334899" y="3336925"/>
                  </a:lnTo>
                  <a:cubicBezTo>
                    <a:pt x="149987" y="3336925"/>
                    <a:pt x="0" y="3186938"/>
                    <a:pt x="0" y="3002026"/>
                  </a:cubicBezTo>
                  <a:close/>
                </a:path>
              </a:pathLst>
            </a:custGeom>
            <a:solidFill>
              <a:srgbClr val="FCF2B5"/>
            </a:solidFill>
          </p:spPr>
        </p:sp>
      </p:grpSp>
      <p:grpSp>
        <p:nvGrpSpPr>
          <p:cNvPr name="Group 19" id="19"/>
          <p:cNvGrpSpPr/>
          <p:nvPr/>
        </p:nvGrpSpPr>
        <p:grpSpPr>
          <a:xfrm rot="0">
            <a:off x="6343945" y="7002656"/>
            <a:ext cx="348853" cy="279054"/>
            <a:chOff x="0" y="0"/>
            <a:chExt cx="465138" cy="372072"/>
          </a:xfrm>
        </p:grpSpPr>
        <p:sp>
          <p:nvSpPr>
            <p:cNvPr name="Freeform 20" id="20" descr="preencoded.png"/>
            <p:cNvSpPr/>
            <p:nvPr/>
          </p:nvSpPr>
          <p:spPr>
            <a:xfrm flipH="false" flipV="false" rot="0">
              <a:off x="0" y="0"/>
              <a:ext cx="465201" cy="372110"/>
            </a:xfrm>
            <a:custGeom>
              <a:avLst/>
              <a:gdLst/>
              <a:ahLst/>
              <a:cxnLst/>
              <a:rect r="r" b="b" t="t" l="l"/>
              <a:pathLst>
                <a:path h="372110" w="465201">
                  <a:moveTo>
                    <a:pt x="0" y="0"/>
                  </a:moveTo>
                  <a:lnTo>
                    <a:pt x="465201" y="0"/>
                  </a:lnTo>
                  <a:lnTo>
                    <a:pt x="465201" y="372110"/>
                  </a:lnTo>
                  <a:lnTo>
                    <a:pt x="0" y="372110"/>
                  </a:lnTo>
                  <a:lnTo>
                    <a:pt x="0" y="0"/>
                  </a:lnTo>
                  <a:close/>
                </a:path>
              </a:pathLst>
            </a:custGeom>
            <a:blipFill>
              <a:blip r:embed="rId6"/>
              <a:stretch>
                <a:fillRect l="-1029" t="0" r="-1015" b="10"/>
              </a:stretch>
            </a:blipFill>
          </p:spPr>
        </p:sp>
      </p:grpSp>
      <p:sp>
        <p:nvSpPr>
          <p:cNvPr name="TextBox 21" id="21"/>
          <p:cNvSpPr txBox="true"/>
          <p:nvPr/>
        </p:nvSpPr>
        <p:spPr>
          <a:xfrm rot="0">
            <a:off x="6971852" y="6861572"/>
            <a:ext cx="3211859" cy="1857375"/>
          </a:xfrm>
          <a:prstGeom prst="rect">
            <a:avLst/>
          </a:prstGeom>
        </p:spPr>
        <p:txBody>
          <a:bodyPr anchor="t" rtlCol="false" tIns="0" lIns="0" bIns="0" rIns="0">
            <a:spAutoFit/>
          </a:bodyPr>
          <a:lstStyle/>
          <a:p>
            <a:pPr algn="l">
              <a:lnSpc>
                <a:spcPts val="3326"/>
              </a:lnSpc>
            </a:pPr>
            <a:r>
              <a:rPr lang="en-US" sz="2100">
                <a:solidFill>
                  <a:srgbClr val="000000"/>
                </a:solidFill>
                <a:latin typeface="Arimo"/>
                <a:ea typeface="Arimo"/>
                <a:cs typeface="Arimo"/>
                <a:sym typeface="Arimo"/>
              </a:rPr>
              <a:t>Le modèle Keras FF souffre toujours du "collapse de classe", ne détectant aucune pluie.</a:t>
            </a:r>
          </a:p>
        </p:txBody>
      </p:sp>
      <p:sp>
        <p:nvSpPr>
          <p:cNvPr name="TextBox 22" id="22"/>
          <p:cNvSpPr txBox="true"/>
          <p:nvPr/>
        </p:nvSpPr>
        <p:spPr>
          <a:xfrm rot="0">
            <a:off x="17259300" y="9201150"/>
            <a:ext cx="152400" cy="209550"/>
          </a:xfrm>
          <a:prstGeom prst="rect">
            <a:avLst/>
          </a:prstGeom>
        </p:spPr>
        <p:txBody>
          <a:bodyPr anchor="t" rtlCol="false" tIns="0" lIns="0" bIns="0" rIns="0" wrap="none">
            <a:spAutoFit/>
          </a:bodyPr>
          <a:lstStyle/>
          <a:p>
            <a:pPr algn="ctr">
              <a:lnSpc>
                <a:spcPts val="3639"/>
              </a:lnSpc>
              <a:spcBef>
                <a:spcPct val="0"/>
              </a:spcBef>
            </a:pPr>
            <a:r>
              <a:rPr lang="en-US" sz="2599">
                <a:solidFill>
                  <a:srgbClr val="000000"/>
                </a:solidFill>
                <a:latin typeface="Open Sans"/>
                <a:ea typeface="Open Sans"/>
                <a:cs typeface="Open Sans"/>
                <a:sym typeface="Open San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EEE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FFA"/>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grpSp>
        <p:nvGrpSpPr>
          <p:cNvPr name="Group 8" id="8"/>
          <p:cNvGrpSpPr/>
          <p:nvPr/>
        </p:nvGrpSpPr>
        <p:grpSpPr>
          <a:xfrm rot="0">
            <a:off x="7586662" y="604838"/>
            <a:ext cx="932107" cy="355702"/>
            <a:chOff x="0" y="0"/>
            <a:chExt cx="1242809" cy="474269"/>
          </a:xfrm>
        </p:grpSpPr>
        <p:sp>
          <p:nvSpPr>
            <p:cNvPr name="Freeform 9" id="9"/>
            <p:cNvSpPr/>
            <p:nvPr/>
          </p:nvSpPr>
          <p:spPr>
            <a:xfrm flipH="false" flipV="false" rot="0">
              <a:off x="0" y="0"/>
              <a:ext cx="1242822" cy="474218"/>
            </a:xfrm>
            <a:custGeom>
              <a:avLst/>
              <a:gdLst/>
              <a:ahLst/>
              <a:cxnLst/>
              <a:rect r="r" b="b" t="t" l="l"/>
              <a:pathLst>
                <a:path h="474218" w="1242822">
                  <a:moveTo>
                    <a:pt x="0" y="199898"/>
                  </a:moveTo>
                  <a:cubicBezTo>
                    <a:pt x="0" y="89535"/>
                    <a:pt x="89535" y="0"/>
                    <a:pt x="199898" y="0"/>
                  </a:cubicBezTo>
                  <a:lnTo>
                    <a:pt x="1042924" y="0"/>
                  </a:lnTo>
                  <a:cubicBezTo>
                    <a:pt x="1153287" y="0"/>
                    <a:pt x="1242822" y="89535"/>
                    <a:pt x="1242822" y="199898"/>
                  </a:cubicBezTo>
                  <a:lnTo>
                    <a:pt x="1242822" y="274320"/>
                  </a:lnTo>
                  <a:cubicBezTo>
                    <a:pt x="1242822" y="384683"/>
                    <a:pt x="1153287" y="474218"/>
                    <a:pt x="1042924" y="474218"/>
                  </a:cubicBezTo>
                  <a:lnTo>
                    <a:pt x="199898" y="474218"/>
                  </a:lnTo>
                  <a:cubicBezTo>
                    <a:pt x="89535" y="474218"/>
                    <a:pt x="0" y="384810"/>
                    <a:pt x="0" y="274320"/>
                  </a:cubicBezTo>
                  <a:close/>
                </a:path>
              </a:pathLst>
            </a:custGeom>
            <a:solidFill>
              <a:srgbClr val="DDEEE0"/>
            </a:solidFill>
          </p:spPr>
        </p:sp>
      </p:grpSp>
      <p:sp>
        <p:nvSpPr>
          <p:cNvPr name="TextBox 10" id="10"/>
          <p:cNvSpPr txBox="true"/>
          <p:nvPr/>
        </p:nvSpPr>
        <p:spPr>
          <a:xfrm rot="0">
            <a:off x="7711526" y="619573"/>
            <a:ext cx="1596781" cy="278606"/>
          </a:xfrm>
          <a:prstGeom prst="rect">
            <a:avLst/>
          </a:prstGeom>
        </p:spPr>
        <p:txBody>
          <a:bodyPr anchor="t" rtlCol="false" tIns="0" lIns="0" bIns="0" rIns="0">
            <a:spAutoFit/>
          </a:bodyPr>
          <a:lstStyle/>
          <a:p>
            <a:pPr algn="l">
              <a:lnSpc>
                <a:spcPts val="1809"/>
              </a:lnSpc>
            </a:pPr>
            <a:r>
              <a:rPr lang="en-US" sz="1300">
                <a:solidFill>
                  <a:srgbClr val="405449"/>
                </a:solidFill>
                <a:latin typeface="Arimo"/>
                <a:ea typeface="Arimo"/>
                <a:cs typeface="Arimo"/>
                <a:sym typeface="Arimo"/>
              </a:rPr>
              <a:t>BIZERTE</a:t>
            </a:r>
          </a:p>
        </p:txBody>
      </p:sp>
      <p:grpSp>
        <p:nvGrpSpPr>
          <p:cNvPr name="Group 11" id="11"/>
          <p:cNvGrpSpPr/>
          <p:nvPr/>
        </p:nvGrpSpPr>
        <p:grpSpPr>
          <a:xfrm rot="0">
            <a:off x="8622802" y="604838"/>
            <a:ext cx="771525" cy="355702"/>
            <a:chOff x="0" y="0"/>
            <a:chExt cx="1028700" cy="474269"/>
          </a:xfrm>
        </p:grpSpPr>
        <p:sp>
          <p:nvSpPr>
            <p:cNvPr name="Freeform 12" id="12"/>
            <p:cNvSpPr/>
            <p:nvPr/>
          </p:nvSpPr>
          <p:spPr>
            <a:xfrm flipH="false" flipV="false" rot="0">
              <a:off x="0" y="0"/>
              <a:ext cx="1028700" cy="474218"/>
            </a:xfrm>
            <a:custGeom>
              <a:avLst/>
              <a:gdLst/>
              <a:ahLst/>
              <a:cxnLst/>
              <a:rect r="r" b="b" t="t" l="l"/>
              <a:pathLst>
                <a:path h="474218" w="1028700">
                  <a:moveTo>
                    <a:pt x="0" y="199898"/>
                  </a:moveTo>
                  <a:cubicBezTo>
                    <a:pt x="0" y="89535"/>
                    <a:pt x="89535" y="0"/>
                    <a:pt x="199898" y="0"/>
                  </a:cubicBezTo>
                  <a:lnTo>
                    <a:pt x="828802" y="0"/>
                  </a:lnTo>
                  <a:cubicBezTo>
                    <a:pt x="939165" y="0"/>
                    <a:pt x="1028700" y="89535"/>
                    <a:pt x="1028700" y="199898"/>
                  </a:cubicBezTo>
                  <a:lnTo>
                    <a:pt x="1028700" y="274320"/>
                  </a:lnTo>
                  <a:cubicBezTo>
                    <a:pt x="1028700" y="384683"/>
                    <a:pt x="939165" y="474218"/>
                    <a:pt x="828802" y="474218"/>
                  </a:cubicBezTo>
                  <a:lnTo>
                    <a:pt x="199898" y="474218"/>
                  </a:lnTo>
                  <a:cubicBezTo>
                    <a:pt x="89535" y="474218"/>
                    <a:pt x="0" y="384810"/>
                    <a:pt x="0" y="274320"/>
                  </a:cubicBezTo>
                  <a:close/>
                </a:path>
              </a:pathLst>
            </a:custGeom>
            <a:solidFill>
              <a:srgbClr val="DDEEE0"/>
            </a:solidFill>
          </p:spPr>
        </p:sp>
      </p:grpSp>
      <p:sp>
        <p:nvSpPr>
          <p:cNvPr name="TextBox 13" id="13"/>
          <p:cNvSpPr txBox="true"/>
          <p:nvPr/>
        </p:nvSpPr>
        <p:spPr>
          <a:xfrm rot="0">
            <a:off x="8747674" y="619573"/>
            <a:ext cx="1436189" cy="278606"/>
          </a:xfrm>
          <a:prstGeom prst="rect">
            <a:avLst/>
          </a:prstGeom>
        </p:spPr>
        <p:txBody>
          <a:bodyPr anchor="t" rtlCol="false" tIns="0" lIns="0" bIns="0" rIns="0">
            <a:spAutoFit/>
          </a:bodyPr>
          <a:lstStyle/>
          <a:p>
            <a:pPr algn="l">
              <a:lnSpc>
                <a:spcPts val="1809"/>
              </a:lnSpc>
            </a:pPr>
            <a:r>
              <a:rPr lang="en-US" sz="1300">
                <a:solidFill>
                  <a:srgbClr val="405449"/>
                </a:solidFill>
                <a:latin typeface="Arimo"/>
                <a:ea typeface="Arimo"/>
                <a:cs typeface="Arimo"/>
                <a:sym typeface="Arimo"/>
              </a:rPr>
              <a:t>TUNIS</a:t>
            </a:r>
          </a:p>
        </p:txBody>
      </p:sp>
      <p:grpSp>
        <p:nvGrpSpPr>
          <p:cNvPr name="Group 14" id="14"/>
          <p:cNvGrpSpPr/>
          <p:nvPr/>
        </p:nvGrpSpPr>
        <p:grpSpPr>
          <a:xfrm rot="0">
            <a:off x="9498359" y="604838"/>
            <a:ext cx="902494" cy="355702"/>
            <a:chOff x="0" y="0"/>
            <a:chExt cx="1203325" cy="474269"/>
          </a:xfrm>
        </p:grpSpPr>
        <p:sp>
          <p:nvSpPr>
            <p:cNvPr name="Freeform 15" id="15"/>
            <p:cNvSpPr/>
            <p:nvPr/>
          </p:nvSpPr>
          <p:spPr>
            <a:xfrm flipH="false" flipV="false" rot="0">
              <a:off x="0" y="0"/>
              <a:ext cx="1203325" cy="474218"/>
            </a:xfrm>
            <a:custGeom>
              <a:avLst/>
              <a:gdLst/>
              <a:ahLst/>
              <a:cxnLst/>
              <a:rect r="r" b="b" t="t" l="l"/>
              <a:pathLst>
                <a:path h="474218" w="1203325">
                  <a:moveTo>
                    <a:pt x="0" y="199898"/>
                  </a:moveTo>
                  <a:cubicBezTo>
                    <a:pt x="0" y="89535"/>
                    <a:pt x="89535" y="0"/>
                    <a:pt x="199898" y="0"/>
                  </a:cubicBezTo>
                  <a:lnTo>
                    <a:pt x="1003427" y="0"/>
                  </a:lnTo>
                  <a:cubicBezTo>
                    <a:pt x="1113790" y="0"/>
                    <a:pt x="1203325" y="89535"/>
                    <a:pt x="1203325" y="199898"/>
                  </a:cubicBezTo>
                  <a:lnTo>
                    <a:pt x="1203325" y="274320"/>
                  </a:lnTo>
                  <a:cubicBezTo>
                    <a:pt x="1203325" y="384683"/>
                    <a:pt x="1113790" y="474218"/>
                    <a:pt x="1003427" y="474218"/>
                  </a:cubicBezTo>
                  <a:lnTo>
                    <a:pt x="199898" y="474218"/>
                  </a:lnTo>
                  <a:cubicBezTo>
                    <a:pt x="89535" y="474218"/>
                    <a:pt x="0" y="384810"/>
                    <a:pt x="0" y="274320"/>
                  </a:cubicBezTo>
                  <a:close/>
                </a:path>
              </a:pathLst>
            </a:custGeom>
            <a:solidFill>
              <a:srgbClr val="DDEEE0"/>
            </a:solidFill>
          </p:spPr>
        </p:sp>
      </p:grpSp>
      <p:sp>
        <p:nvSpPr>
          <p:cNvPr name="TextBox 16" id="16"/>
          <p:cNvSpPr txBox="true"/>
          <p:nvPr/>
        </p:nvSpPr>
        <p:spPr>
          <a:xfrm rot="0">
            <a:off x="9623222" y="619573"/>
            <a:ext cx="1567158" cy="278606"/>
          </a:xfrm>
          <a:prstGeom prst="rect">
            <a:avLst/>
          </a:prstGeom>
        </p:spPr>
        <p:txBody>
          <a:bodyPr anchor="t" rtlCol="false" tIns="0" lIns="0" bIns="0" rIns="0">
            <a:spAutoFit/>
          </a:bodyPr>
          <a:lstStyle/>
          <a:p>
            <a:pPr algn="l">
              <a:lnSpc>
                <a:spcPts val="1809"/>
              </a:lnSpc>
            </a:pPr>
            <a:r>
              <a:rPr lang="en-US" sz="1300">
                <a:solidFill>
                  <a:srgbClr val="405449"/>
                </a:solidFill>
                <a:latin typeface="Arimo"/>
                <a:ea typeface="Arimo"/>
                <a:cs typeface="Arimo"/>
                <a:sym typeface="Arimo"/>
              </a:rPr>
              <a:t>SOUSSE</a:t>
            </a:r>
          </a:p>
        </p:txBody>
      </p:sp>
      <p:grpSp>
        <p:nvGrpSpPr>
          <p:cNvPr name="Group 17" id="17"/>
          <p:cNvGrpSpPr/>
          <p:nvPr/>
        </p:nvGrpSpPr>
        <p:grpSpPr>
          <a:xfrm rot="0">
            <a:off x="10504884" y="604838"/>
            <a:ext cx="669722" cy="355702"/>
            <a:chOff x="0" y="0"/>
            <a:chExt cx="892962" cy="474269"/>
          </a:xfrm>
        </p:grpSpPr>
        <p:sp>
          <p:nvSpPr>
            <p:cNvPr name="Freeform 18" id="18"/>
            <p:cNvSpPr/>
            <p:nvPr/>
          </p:nvSpPr>
          <p:spPr>
            <a:xfrm flipH="false" flipV="false" rot="0">
              <a:off x="0" y="0"/>
              <a:ext cx="892937" cy="474218"/>
            </a:xfrm>
            <a:custGeom>
              <a:avLst/>
              <a:gdLst/>
              <a:ahLst/>
              <a:cxnLst/>
              <a:rect r="r" b="b" t="t" l="l"/>
              <a:pathLst>
                <a:path h="474218" w="892937">
                  <a:moveTo>
                    <a:pt x="0" y="199898"/>
                  </a:moveTo>
                  <a:cubicBezTo>
                    <a:pt x="0" y="89535"/>
                    <a:pt x="89535" y="0"/>
                    <a:pt x="199898" y="0"/>
                  </a:cubicBezTo>
                  <a:lnTo>
                    <a:pt x="693039" y="0"/>
                  </a:lnTo>
                  <a:cubicBezTo>
                    <a:pt x="803402" y="0"/>
                    <a:pt x="892937" y="89535"/>
                    <a:pt x="892937" y="199898"/>
                  </a:cubicBezTo>
                  <a:lnTo>
                    <a:pt x="892937" y="274320"/>
                  </a:lnTo>
                  <a:cubicBezTo>
                    <a:pt x="892937" y="384683"/>
                    <a:pt x="803402" y="474218"/>
                    <a:pt x="693039" y="474218"/>
                  </a:cubicBezTo>
                  <a:lnTo>
                    <a:pt x="199898" y="474218"/>
                  </a:lnTo>
                  <a:cubicBezTo>
                    <a:pt x="89535" y="474218"/>
                    <a:pt x="0" y="384810"/>
                    <a:pt x="0" y="274320"/>
                  </a:cubicBezTo>
                  <a:close/>
                </a:path>
              </a:pathLst>
            </a:custGeom>
            <a:solidFill>
              <a:srgbClr val="DDEEE0"/>
            </a:solidFill>
          </p:spPr>
        </p:sp>
      </p:grpSp>
      <p:sp>
        <p:nvSpPr>
          <p:cNvPr name="TextBox 19" id="19"/>
          <p:cNvSpPr txBox="true"/>
          <p:nvPr/>
        </p:nvSpPr>
        <p:spPr>
          <a:xfrm rot="0">
            <a:off x="10629748" y="619573"/>
            <a:ext cx="1334395" cy="278606"/>
          </a:xfrm>
          <a:prstGeom prst="rect">
            <a:avLst/>
          </a:prstGeom>
        </p:spPr>
        <p:txBody>
          <a:bodyPr anchor="t" rtlCol="false" tIns="0" lIns="0" bIns="0" rIns="0">
            <a:spAutoFit/>
          </a:bodyPr>
          <a:lstStyle/>
          <a:p>
            <a:pPr algn="l">
              <a:lnSpc>
                <a:spcPts val="1809"/>
              </a:lnSpc>
            </a:pPr>
            <a:r>
              <a:rPr lang="en-US" sz="1300">
                <a:solidFill>
                  <a:srgbClr val="405449"/>
                </a:solidFill>
                <a:latin typeface="Arimo"/>
                <a:ea typeface="Arimo"/>
                <a:cs typeface="Arimo"/>
                <a:sym typeface="Arimo"/>
              </a:rPr>
              <a:t>SFAX</a:t>
            </a:r>
          </a:p>
        </p:txBody>
      </p:sp>
      <p:sp>
        <p:nvSpPr>
          <p:cNvPr name="TextBox 20" id="20"/>
          <p:cNvSpPr txBox="true"/>
          <p:nvPr/>
        </p:nvSpPr>
        <p:spPr>
          <a:xfrm rot="0">
            <a:off x="7586662" y="1012031"/>
            <a:ext cx="6119812" cy="660197"/>
          </a:xfrm>
          <a:prstGeom prst="rect">
            <a:avLst/>
          </a:prstGeom>
        </p:spPr>
        <p:txBody>
          <a:bodyPr anchor="t" rtlCol="false" tIns="0" lIns="0" bIns="0" rIns="0">
            <a:spAutoFit/>
          </a:bodyPr>
          <a:lstStyle/>
          <a:p>
            <a:pPr algn="l">
              <a:lnSpc>
                <a:spcPts val="4992"/>
              </a:lnSpc>
            </a:pPr>
            <a:r>
              <a:rPr lang="en-US" sz="4000">
                <a:solidFill>
                  <a:srgbClr val="3B4540"/>
                </a:solidFill>
                <a:latin typeface="Fraunces"/>
                <a:ea typeface="Fraunces"/>
                <a:cs typeface="Fraunces"/>
                <a:sym typeface="Fraunces"/>
              </a:rPr>
              <a:t>Interface Flask</a:t>
            </a:r>
          </a:p>
        </p:txBody>
      </p:sp>
      <p:sp>
        <p:nvSpPr>
          <p:cNvPr name="TextBox 21" id="21"/>
          <p:cNvSpPr txBox="true"/>
          <p:nvPr/>
        </p:nvSpPr>
        <p:spPr>
          <a:xfrm rot="0">
            <a:off x="7586662" y="1853956"/>
            <a:ext cx="9972675" cy="561061"/>
          </a:xfrm>
          <a:prstGeom prst="rect">
            <a:avLst/>
          </a:prstGeom>
        </p:spPr>
        <p:txBody>
          <a:bodyPr anchor="t" rtlCol="false" tIns="0" lIns="0" bIns="0" rIns="0">
            <a:spAutoFit/>
          </a:bodyPr>
          <a:lstStyle/>
          <a:p>
            <a:pPr algn="l">
              <a:lnSpc>
                <a:spcPts val="2227"/>
              </a:lnSpc>
            </a:pPr>
            <a:r>
              <a:rPr lang="en-US" sz="1600">
                <a:solidFill>
                  <a:srgbClr val="405449"/>
                </a:solidFill>
                <a:latin typeface="Arimo"/>
                <a:ea typeface="Arimo"/>
                <a:cs typeface="Arimo"/>
                <a:sym typeface="Arimo"/>
              </a:rPr>
              <a:t>Une interface web intuitive conçue pour interagir avec le modèle de prévision de pluie, offrant des prévisions en temps réel et des visualisations.</a:t>
            </a:r>
          </a:p>
        </p:txBody>
      </p:sp>
      <p:sp>
        <p:nvSpPr>
          <p:cNvPr name="TextBox 22" id="22"/>
          <p:cNvSpPr txBox="true"/>
          <p:nvPr/>
        </p:nvSpPr>
        <p:spPr>
          <a:xfrm rot="0">
            <a:off x="7586662" y="2804074"/>
            <a:ext cx="3517106" cy="325336"/>
          </a:xfrm>
          <a:prstGeom prst="rect">
            <a:avLst/>
          </a:prstGeom>
        </p:spPr>
        <p:txBody>
          <a:bodyPr anchor="t" rtlCol="false" tIns="0" lIns="0" bIns="0" rIns="0">
            <a:spAutoFit/>
          </a:bodyPr>
          <a:lstStyle/>
          <a:p>
            <a:pPr algn="l">
              <a:lnSpc>
                <a:spcPts val="2496"/>
              </a:lnSpc>
            </a:pPr>
            <a:r>
              <a:rPr lang="en-US" sz="2000">
                <a:solidFill>
                  <a:srgbClr val="3B4540"/>
                </a:solidFill>
                <a:latin typeface="Fraunces"/>
                <a:ea typeface="Fraunces"/>
                <a:cs typeface="Fraunces"/>
                <a:sym typeface="Fraunces"/>
              </a:rPr>
              <a:t>Input Form</a:t>
            </a:r>
          </a:p>
        </p:txBody>
      </p:sp>
      <p:sp>
        <p:nvSpPr>
          <p:cNvPr name="TextBox 23" id="23"/>
          <p:cNvSpPr txBox="true"/>
          <p:nvPr/>
        </p:nvSpPr>
        <p:spPr>
          <a:xfrm rot="0">
            <a:off x="7586662" y="3234633"/>
            <a:ext cx="6275632" cy="336499"/>
          </a:xfrm>
          <a:prstGeom prst="rect">
            <a:avLst/>
          </a:prstGeom>
        </p:spPr>
        <p:txBody>
          <a:bodyPr anchor="t" rtlCol="false" tIns="0" lIns="0" bIns="0" rIns="0">
            <a:spAutoFit/>
          </a:bodyPr>
          <a:lstStyle/>
          <a:p>
            <a:pPr algn="l">
              <a:lnSpc>
                <a:spcPts val="2227"/>
              </a:lnSpc>
            </a:pPr>
            <a:r>
              <a:rPr lang="en-US" sz="1600">
                <a:solidFill>
                  <a:srgbClr val="405449"/>
                </a:solidFill>
                <a:latin typeface="Arimo"/>
                <a:ea typeface="Arimo"/>
                <a:cs typeface="Arimo"/>
                <a:sym typeface="Arimo"/>
              </a:rPr>
              <a:t>Six meteorological parameters drive the prediction:</a:t>
            </a:r>
          </a:p>
        </p:txBody>
      </p:sp>
      <p:sp>
        <p:nvSpPr>
          <p:cNvPr name="TextBox 24" id="24"/>
          <p:cNvSpPr txBox="true"/>
          <p:nvPr/>
        </p:nvSpPr>
        <p:spPr>
          <a:xfrm rot="0">
            <a:off x="7586662" y="3661019"/>
            <a:ext cx="5361232" cy="1665961"/>
          </a:xfrm>
          <a:prstGeom prst="rect">
            <a:avLst/>
          </a:prstGeom>
        </p:spPr>
        <p:txBody>
          <a:bodyPr anchor="t" rtlCol="false" tIns="0" lIns="0" bIns="0" rIns="0">
            <a:spAutoFit/>
          </a:bodyPr>
          <a:lstStyle/>
          <a:p>
            <a:pPr algn="l" marL="345439" indent="-172720" lvl="1">
              <a:lnSpc>
                <a:spcPts val="2227"/>
              </a:lnSpc>
              <a:buFont typeface="Arial"/>
              <a:buChar char="•"/>
            </a:pPr>
            <a:r>
              <a:rPr lang="en-US" sz="1599">
                <a:solidFill>
                  <a:srgbClr val="405449"/>
                </a:solidFill>
                <a:latin typeface="Arimo"/>
                <a:ea typeface="Arimo"/>
                <a:cs typeface="Arimo"/>
                <a:sym typeface="Arimo"/>
              </a:rPr>
              <a:t>Température maximale (°C)</a:t>
            </a:r>
          </a:p>
          <a:p>
            <a:pPr algn="l" marL="345439" indent="-172720" lvl="1">
              <a:lnSpc>
                <a:spcPts val="2227"/>
              </a:lnSpc>
              <a:buFont typeface="Arial"/>
              <a:buChar char="•"/>
            </a:pPr>
            <a:r>
              <a:rPr lang="en-US" sz="1599">
                <a:solidFill>
                  <a:srgbClr val="405449"/>
                </a:solidFill>
                <a:latin typeface="Arimo"/>
                <a:ea typeface="Arimo"/>
                <a:cs typeface="Arimo"/>
                <a:sym typeface="Arimo"/>
              </a:rPr>
              <a:t>Température minimale (°C)</a:t>
            </a:r>
          </a:p>
          <a:p>
            <a:pPr algn="l" marL="345439" indent="-172720" lvl="1">
              <a:lnSpc>
                <a:spcPts val="2227"/>
              </a:lnSpc>
              <a:buFont typeface="Arial"/>
              <a:buChar char="•"/>
            </a:pPr>
            <a:r>
              <a:rPr lang="en-US" sz="1599">
                <a:solidFill>
                  <a:srgbClr val="405449"/>
                </a:solidFill>
                <a:latin typeface="Arimo"/>
                <a:ea typeface="Arimo"/>
                <a:cs typeface="Arimo"/>
                <a:sym typeface="Arimo"/>
              </a:rPr>
              <a:t>Précipitations (mm)</a:t>
            </a:r>
          </a:p>
          <a:p>
            <a:pPr algn="l" marL="345439" indent="-172720" lvl="1">
              <a:lnSpc>
                <a:spcPts val="2227"/>
              </a:lnSpc>
              <a:buFont typeface="Arial"/>
              <a:buChar char="•"/>
            </a:pPr>
            <a:r>
              <a:rPr lang="en-US" sz="1599">
                <a:solidFill>
                  <a:srgbClr val="405449"/>
                </a:solidFill>
                <a:latin typeface="Arimo"/>
                <a:ea typeface="Arimo"/>
                <a:cs typeface="Arimo"/>
                <a:sym typeface="Arimo"/>
              </a:rPr>
              <a:t>Humidité (%)</a:t>
            </a:r>
          </a:p>
          <a:p>
            <a:pPr algn="l" marL="345439" indent="-172720" lvl="1">
              <a:lnSpc>
                <a:spcPts val="2227"/>
              </a:lnSpc>
              <a:buFont typeface="Arial"/>
              <a:buChar char="•"/>
            </a:pPr>
            <a:r>
              <a:rPr lang="en-US" sz="1599">
                <a:solidFill>
                  <a:srgbClr val="405449"/>
                </a:solidFill>
                <a:latin typeface="Arimo"/>
                <a:ea typeface="Arimo"/>
                <a:cs typeface="Arimo"/>
                <a:sym typeface="Arimo"/>
              </a:rPr>
              <a:t>Vitesse du vent (km/h)</a:t>
            </a:r>
          </a:p>
          <a:p>
            <a:pPr algn="l" marL="386080" indent="-193040" lvl="1">
              <a:lnSpc>
                <a:spcPts val="2227"/>
              </a:lnSpc>
              <a:buFont typeface="Arial"/>
              <a:buChar char="•"/>
            </a:pPr>
            <a:r>
              <a:rPr lang="en-US" sz="1600">
                <a:solidFill>
                  <a:srgbClr val="405449"/>
                </a:solidFill>
                <a:latin typeface="Arimo"/>
                <a:ea typeface="Arimo"/>
                <a:cs typeface="Arimo"/>
                <a:sym typeface="Arimo"/>
              </a:rPr>
              <a:t>Pression atmosphérique (hPa)</a:t>
            </a:r>
          </a:p>
        </p:txBody>
      </p:sp>
      <p:sp>
        <p:nvSpPr>
          <p:cNvPr name="TextBox 25" id="25"/>
          <p:cNvSpPr txBox="true"/>
          <p:nvPr/>
        </p:nvSpPr>
        <p:spPr>
          <a:xfrm rot="0">
            <a:off x="13465226" y="2804074"/>
            <a:ext cx="3757612" cy="325336"/>
          </a:xfrm>
          <a:prstGeom prst="rect">
            <a:avLst/>
          </a:prstGeom>
        </p:spPr>
        <p:txBody>
          <a:bodyPr anchor="t" rtlCol="false" tIns="0" lIns="0" bIns="0" rIns="0">
            <a:spAutoFit/>
          </a:bodyPr>
          <a:lstStyle/>
          <a:p>
            <a:pPr algn="l">
              <a:lnSpc>
                <a:spcPts val="2496"/>
              </a:lnSpc>
            </a:pPr>
            <a:r>
              <a:rPr lang="en-US" sz="2000">
                <a:solidFill>
                  <a:srgbClr val="3B4540"/>
                </a:solidFill>
                <a:latin typeface="Fraunces"/>
                <a:ea typeface="Fraunces"/>
                <a:cs typeface="Fraunces"/>
                <a:sym typeface="Fraunces"/>
              </a:rPr>
              <a:t>Animated Result Map</a:t>
            </a:r>
          </a:p>
        </p:txBody>
      </p:sp>
      <p:sp>
        <p:nvSpPr>
          <p:cNvPr name="TextBox 26" id="26"/>
          <p:cNvSpPr txBox="true"/>
          <p:nvPr/>
        </p:nvSpPr>
        <p:spPr>
          <a:xfrm rot="0">
            <a:off x="13465226" y="3234633"/>
            <a:ext cx="4103494" cy="625373"/>
          </a:xfrm>
          <a:prstGeom prst="rect">
            <a:avLst/>
          </a:prstGeom>
        </p:spPr>
        <p:txBody>
          <a:bodyPr anchor="t" rtlCol="false" tIns="0" lIns="0" bIns="0" rIns="0">
            <a:spAutoFit/>
          </a:bodyPr>
          <a:lstStyle/>
          <a:p>
            <a:pPr algn="l">
              <a:lnSpc>
                <a:spcPts val="2227"/>
              </a:lnSpc>
            </a:pPr>
            <a:r>
              <a:rPr lang="en-US" sz="1600">
                <a:solidFill>
                  <a:srgbClr val="405449"/>
                </a:solidFill>
                <a:latin typeface="Arimo"/>
                <a:ea typeface="Arimo"/>
                <a:cs typeface="Arimo"/>
                <a:sym typeface="Arimo"/>
              </a:rPr>
              <a:t>The outcome is visually stunning, featuring:</a:t>
            </a:r>
          </a:p>
        </p:txBody>
      </p:sp>
      <p:sp>
        <p:nvSpPr>
          <p:cNvPr name="TextBox 27" id="27"/>
          <p:cNvSpPr txBox="true"/>
          <p:nvPr/>
        </p:nvSpPr>
        <p:spPr>
          <a:xfrm rot="0">
            <a:off x="13465226" y="3949903"/>
            <a:ext cx="4103494" cy="2770861"/>
          </a:xfrm>
          <a:prstGeom prst="rect">
            <a:avLst/>
          </a:prstGeom>
        </p:spPr>
        <p:txBody>
          <a:bodyPr anchor="t" rtlCol="false" tIns="0" lIns="0" bIns="0" rIns="0">
            <a:spAutoFit/>
          </a:bodyPr>
          <a:lstStyle/>
          <a:p>
            <a:pPr algn="l" marL="345439" indent="-172720" lvl="1">
              <a:lnSpc>
                <a:spcPts val="2227"/>
              </a:lnSpc>
              <a:buFont typeface="Arial"/>
              <a:buChar char="•"/>
            </a:pPr>
            <a:r>
              <a:rPr lang="en-US" sz="1599">
                <a:solidFill>
                  <a:srgbClr val="405449"/>
                </a:solidFill>
                <a:latin typeface="Arimo"/>
                <a:ea typeface="Arimo"/>
                <a:cs typeface="Arimo"/>
                <a:sym typeface="Arimo"/>
              </a:rPr>
              <a:t>Une carte 3D rotative à 360° révélant le verdict.</a:t>
            </a:r>
          </a:p>
          <a:p>
            <a:pPr algn="l" marL="345439" indent="-172720" lvl="1">
              <a:lnSpc>
                <a:spcPts val="2227"/>
              </a:lnSpc>
              <a:buFont typeface="Arial"/>
              <a:buChar char="•"/>
            </a:pPr>
            <a:r>
              <a:rPr lang="en-US" sz="1599">
                <a:solidFill>
                  <a:srgbClr val="405449"/>
                </a:solidFill>
                <a:latin typeface="Arimo"/>
                <a:ea typeface="Arimo"/>
                <a:cs typeface="Arimo"/>
                <a:sym typeface="Arimo"/>
              </a:rPr>
              <a:t>Pour la pluie : une carte bleu nuit avec un nuage SVG flottant et 45 gouttes en diagonale animées.</a:t>
            </a:r>
          </a:p>
          <a:p>
            <a:pPr algn="l" marL="345439" indent="-172720" lvl="1">
              <a:lnSpc>
                <a:spcPts val="2227"/>
              </a:lnSpc>
              <a:buFont typeface="Arial"/>
              <a:buChar char="•"/>
            </a:pPr>
            <a:r>
              <a:rPr lang="en-US" sz="1599">
                <a:solidFill>
                  <a:srgbClr val="405449"/>
                </a:solidFill>
                <a:latin typeface="Arimo"/>
                <a:ea typeface="Arimo"/>
                <a:cs typeface="Arimo"/>
                <a:sym typeface="Arimo"/>
              </a:rPr>
              <a:t>Pour le soleil : une carte orange avec un soleil SVG rotatif et des anneaux rayonnants.</a:t>
            </a:r>
          </a:p>
          <a:p>
            <a:pPr algn="l" marL="386080" indent="-193040" lvl="1">
              <a:lnSpc>
                <a:spcPts val="2227"/>
              </a:lnSpc>
              <a:buFont typeface="Arial"/>
              <a:buChar char="•"/>
            </a:pPr>
            <a:r>
              <a:rPr lang="en-US" sz="1600">
                <a:solidFill>
                  <a:srgbClr val="405449"/>
                </a:solidFill>
                <a:latin typeface="Arimo"/>
                <a:ea typeface="Arimo"/>
                <a:cs typeface="Arimo"/>
                <a:sym typeface="Arimo"/>
              </a:rPr>
              <a:t>Un compteur luminescent s'incrémentant de 0 % à la probabilité finale.</a:t>
            </a:r>
          </a:p>
        </p:txBody>
      </p:sp>
      <p:grpSp>
        <p:nvGrpSpPr>
          <p:cNvPr name="Group 28" id="28"/>
          <p:cNvGrpSpPr/>
          <p:nvPr/>
        </p:nvGrpSpPr>
        <p:grpSpPr>
          <a:xfrm rot="0">
            <a:off x="7586662" y="7034955"/>
            <a:ext cx="9972675" cy="15478"/>
            <a:chOff x="0" y="0"/>
            <a:chExt cx="13296900" cy="20638"/>
          </a:xfrm>
        </p:grpSpPr>
        <p:sp>
          <p:nvSpPr>
            <p:cNvPr name="Freeform 29" id="29"/>
            <p:cNvSpPr/>
            <p:nvPr/>
          </p:nvSpPr>
          <p:spPr>
            <a:xfrm flipH="false" flipV="false" rot="0">
              <a:off x="0" y="0"/>
              <a:ext cx="13296900" cy="20574"/>
            </a:xfrm>
            <a:custGeom>
              <a:avLst/>
              <a:gdLst/>
              <a:ahLst/>
              <a:cxnLst/>
              <a:rect r="r" b="b" t="t" l="l"/>
              <a:pathLst>
                <a:path h="20574" w="13296900">
                  <a:moveTo>
                    <a:pt x="0" y="0"/>
                  </a:moveTo>
                  <a:lnTo>
                    <a:pt x="13296900" y="0"/>
                  </a:lnTo>
                  <a:lnTo>
                    <a:pt x="13296900" y="20574"/>
                  </a:lnTo>
                  <a:lnTo>
                    <a:pt x="0" y="20574"/>
                  </a:lnTo>
                  <a:close/>
                </a:path>
              </a:pathLst>
            </a:custGeom>
            <a:solidFill>
              <a:srgbClr val="405449">
                <a:alpha val="24706"/>
              </a:srgbClr>
            </a:solidFill>
          </p:spPr>
        </p:sp>
      </p:grpSp>
      <p:sp>
        <p:nvSpPr>
          <p:cNvPr name="TextBox 30" id="30"/>
          <p:cNvSpPr txBox="true"/>
          <p:nvPr/>
        </p:nvSpPr>
        <p:spPr>
          <a:xfrm rot="0">
            <a:off x="7586662" y="7331716"/>
            <a:ext cx="3517106" cy="325336"/>
          </a:xfrm>
          <a:prstGeom prst="rect">
            <a:avLst/>
          </a:prstGeom>
        </p:spPr>
        <p:txBody>
          <a:bodyPr anchor="t" rtlCol="false" tIns="0" lIns="0" bIns="0" rIns="0">
            <a:spAutoFit/>
          </a:bodyPr>
          <a:lstStyle/>
          <a:p>
            <a:pPr algn="l">
              <a:lnSpc>
                <a:spcPts val="2496"/>
              </a:lnSpc>
            </a:pPr>
            <a:r>
              <a:rPr lang="en-US" sz="2000">
                <a:solidFill>
                  <a:srgbClr val="3B4540"/>
                </a:solidFill>
                <a:latin typeface="Fraunces"/>
                <a:ea typeface="Fraunces"/>
                <a:cs typeface="Fraunces"/>
                <a:sym typeface="Fraunces"/>
              </a:rPr>
              <a:t>Technical Flow</a:t>
            </a:r>
          </a:p>
        </p:txBody>
      </p:sp>
      <p:sp>
        <p:nvSpPr>
          <p:cNvPr name="TextBox 31" id="31"/>
          <p:cNvSpPr txBox="true"/>
          <p:nvPr/>
        </p:nvSpPr>
        <p:spPr>
          <a:xfrm rot="0">
            <a:off x="7586662" y="7838780"/>
            <a:ext cx="10701338" cy="284836"/>
          </a:xfrm>
          <a:prstGeom prst="rect">
            <a:avLst/>
          </a:prstGeom>
        </p:spPr>
        <p:txBody>
          <a:bodyPr anchor="t" rtlCol="false" tIns="0" lIns="0" bIns="0" rIns="0">
            <a:spAutoFit/>
          </a:bodyPr>
          <a:lstStyle/>
          <a:p>
            <a:pPr algn="l">
              <a:lnSpc>
                <a:spcPts val="2227"/>
              </a:lnSpc>
            </a:pPr>
            <a:r>
              <a:rPr lang="en-US" sz="1600">
                <a:solidFill>
                  <a:srgbClr val="405449"/>
                </a:solidFill>
                <a:latin typeface="Arimo"/>
                <a:ea typeface="Arimo"/>
                <a:cs typeface="Arimo"/>
                <a:sym typeface="Arimo"/>
              </a:rPr>
              <a:t>Une interaction fluide alimente l'interface :</a:t>
            </a:r>
          </a:p>
        </p:txBody>
      </p:sp>
      <p:sp>
        <p:nvSpPr>
          <p:cNvPr name="TextBox 32" id="32"/>
          <p:cNvSpPr txBox="true"/>
          <p:nvPr/>
        </p:nvSpPr>
        <p:spPr>
          <a:xfrm rot="0">
            <a:off x="7586662" y="8299552"/>
            <a:ext cx="9972675" cy="1113511"/>
          </a:xfrm>
          <a:prstGeom prst="rect">
            <a:avLst/>
          </a:prstGeom>
        </p:spPr>
        <p:txBody>
          <a:bodyPr anchor="t" rtlCol="false" tIns="0" lIns="0" bIns="0" rIns="0">
            <a:spAutoFit/>
          </a:bodyPr>
          <a:lstStyle/>
          <a:p>
            <a:pPr algn="l" marL="345439" indent="-172720" lvl="1">
              <a:lnSpc>
                <a:spcPts val="2227"/>
              </a:lnSpc>
              <a:buFont typeface="Arial"/>
              <a:buChar char="•"/>
            </a:pPr>
            <a:r>
              <a:rPr lang="en-US" sz="1599">
                <a:solidFill>
                  <a:srgbClr val="405449"/>
                </a:solidFill>
                <a:latin typeface="Arimo"/>
                <a:ea typeface="Arimo"/>
                <a:cs typeface="Arimo"/>
                <a:sym typeface="Arimo"/>
              </a:rPr>
              <a:t>JavaScript calcule les caractéristiques dérivées côté client.</a:t>
            </a:r>
          </a:p>
          <a:p>
            <a:pPr algn="l" marL="345439" indent="-172720" lvl="1">
              <a:lnSpc>
                <a:spcPts val="2227"/>
              </a:lnSpc>
              <a:buFont typeface="Arial"/>
              <a:buChar char="•"/>
            </a:pPr>
            <a:r>
              <a:rPr lang="en-US" sz="1599">
                <a:solidFill>
                  <a:srgbClr val="405449"/>
                </a:solidFill>
                <a:latin typeface="Arimo"/>
                <a:ea typeface="Arimo"/>
                <a:cs typeface="Arimo"/>
                <a:sym typeface="Arimo"/>
              </a:rPr>
              <a:t>fetch POST /predict envoie les données au backend Flask.</a:t>
            </a:r>
          </a:p>
          <a:p>
            <a:pPr algn="l" marL="345439" indent="-172720" lvl="1">
              <a:lnSpc>
                <a:spcPts val="2227"/>
              </a:lnSpc>
              <a:buFont typeface="Arial"/>
              <a:buChar char="•"/>
            </a:pPr>
            <a:r>
              <a:rPr lang="en-US" sz="1599">
                <a:solidFill>
                  <a:srgbClr val="405449"/>
                </a:solidFill>
                <a:latin typeface="Arimo"/>
                <a:ea typeface="Arimo"/>
                <a:cs typeface="Arimo"/>
                <a:sym typeface="Arimo"/>
              </a:rPr>
              <a:t>Flask effectue le scoring.</a:t>
            </a:r>
          </a:p>
          <a:p>
            <a:pPr algn="l" marL="386080" indent="-193040" lvl="1">
              <a:lnSpc>
                <a:spcPts val="2227"/>
              </a:lnSpc>
              <a:buFont typeface="Arial"/>
              <a:buChar char="•"/>
            </a:pPr>
            <a:r>
              <a:rPr lang="en-US" sz="1600">
                <a:solidFill>
                  <a:srgbClr val="405449"/>
                </a:solidFill>
                <a:latin typeface="Arimo"/>
                <a:ea typeface="Arimo"/>
                <a:cs typeface="Arimo"/>
                <a:sym typeface="Arimo"/>
              </a:rPr>
              <a:t>Une animation côté client visualise la prédiction de manière dynamique.</a:t>
            </a:r>
          </a:p>
        </p:txBody>
      </p:sp>
      <p:sp>
        <p:nvSpPr>
          <p:cNvPr name="TextBox 33" id="33"/>
          <p:cNvSpPr txBox="true"/>
          <p:nvPr/>
        </p:nvSpPr>
        <p:spPr>
          <a:xfrm rot="0">
            <a:off x="17259300" y="9201150"/>
            <a:ext cx="152400" cy="209550"/>
          </a:xfrm>
          <a:prstGeom prst="rect">
            <a:avLst/>
          </a:prstGeom>
        </p:spPr>
        <p:txBody>
          <a:bodyPr anchor="t" rtlCol="false" tIns="0" lIns="0" bIns="0" rIns="0" wrap="none">
            <a:spAutoFit/>
          </a:bodyPr>
          <a:lstStyle/>
          <a:p>
            <a:pPr algn="ctr">
              <a:lnSpc>
                <a:spcPts val="3639"/>
              </a:lnSpc>
              <a:spcBef>
                <a:spcPct val="0"/>
              </a:spcBef>
            </a:pPr>
            <a:r>
              <a:rPr lang="en-US" sz="2599">
                <a:solidFill>
                  <a:srgbClr val="000000"/>
                </a:solidFill>
                <a:latin typeface="Open Sans"/>
                <a:ea typeface="Open Sans"/>
                <a:cs typeface="Open Sans"/>
                <a:sym typeface="Open Sans"/>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EEE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FFA"/>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3"/>
              <a:stretch>
                <a:fillRect l="0" t="0" r="0" b="0"/>
              </a:stretch>
            </a:blipFill>
          </p:spPr>
        </p:sp>
      </p:grpSp>
      <p:sp>
        <p:nvSpPr>
          <p:cNvPr name="TextBox 8" id="8"/>
          <p:cNvSpPr txBox="true"/>
          <p:nvPr/>
        </p:nvSpPr>
        <p:spPr>
          <a:xfrm rot="0">
            <a:off x="7850238" y="1104005"/>
            <a:ext cx="9445523" cy="1790995"/>
          </a:xfrm>
          <a:prstGeom prst="rect">
            <a:avLst/>
          </a:prstGeom>
        </p:spPr>
        <p:txBody>
          <a:bodyPr anchor="t" rtlCol="false" tIns="0" lIns="0" bIns="0" rIns="0">
            <a:spAutoFit/>
          </a:bodyPr>
          <a:lstStyle/>
          <a:p>
            <a:pPr algn="l">
              <a:lnSpc>
                <a:spcPts val="6864"/>
              </a:lnSpc>
            </a:pPr>
            <a:r>
              <a:rPr lang="en-US" sz="5500">
                <a:solidFill>
                  <a:srgbClr val="3B4540"/>
                </a:solidFill>
                <a:latin typeface="Fraunces"/>
                <a:ea typeface="Fraunces"/>
                <a:cs typeface="Fraunces"/>
                <a:sym typeface="Fraunces"/>
              </a:rPr>
              <a:t>Conclusion &amp; Perspectives</a:t>
            </a:r>
          </a:p>
        </p:txBody>
      </p:sp>
      <p:sp>
        <p:nvSpPr>
          <p:cNvPr name="TextBox 9" id="9"/>
          <p:cNvSpPr txBox="true"/>
          <p:nvPr/>
        </p:nvSpPr>
        <p:spPr>
          <a:xfrm rot="0">
            <a:off x="7850238" y="3594202"/>
            <a:ext cx="4376890" cy="895350"/>
          </a:xfrm>
          <a:prstGeom prst="rect">
            <a:avLst/>
          </a:prstGeom>
        </p:spPr>
        <p:txBody>
          <a:bodyPr anchor="t" rtlCol="false" tIns="0" lIns="0" bIns="0" rIns="0">
            <a:spAutoFit/>
          </a:bodyPr>
          <a:lstStyle/>
          <a:p>
            <a:pPr algn="l">
              <a:lnSpc>
                <a:spcPts val="3369"/>
              </a:lnSpc>
            </a:pPr>
            <a:r>
              <a:rPr lang="en-US" sz="2700">
                <a:solidFill>
                  <a:srgbClr val="3B4540"/>
                </a:solidFill>
                <a:latin typeface="Fraunces"/>
                <a:ea typeface="Fraunces"/>
                <a:cs typeface="Fraunces"/>
                <a:sym typeface="Fraunces"/>
              </a:rPr>
              <a:t>Key Project Achievements</a:t>
            </a:r>
          </a:p>
        </p:txBody>
      </p:sp>
      <p:sp>
        <p:nvSpPr>
          <p:cNvPr name="TextBox 10" id="10"/>
          <p:cNvSpPr txBox="true"/>
          <p:nvPr/>
        </p:nvSpPr>
        <p:spPr>
          <a:xfrm rot="0">
            <a:off x="7850238" y="4225376"/>
            <a:ext cx="4376890" cy="4813783"/>
          </a:xfrm>
          <a:prstGeom prst="rect">
            <a:avLst/>
          </a:prstGeom>
        </p:spPr>
        <p:txBody>
          <a:bodyPr anchor="t" rtlCol="false" tIns="0" lIns="0" bIns="0" rIns="0">
            <a:spAutoFit/>
          </a:bodyPr>
          <a:lstStyle/>
          <a:p>
            <a:pPr algn="l" marL="474979" indent="-237490" lvl="1">
              <a:lnSpc>
                <a:spcPts val="3511"/>
              </a:lnSpc>
              <a:buFont typeface="Arial"/>
              <a:buChar char="•"/>
            </a:pPr>
            <a:r>
              <a:rPr lang="en-US" sz="2199">
                <a:solidFill>
                  <a:srgbClr val="405449"/>
                </a:solidFill>
                <a:latin typeface="Arimo"/>
                <a:ea typeface="Arimo"/>
                <a:cs typeface="Arimo"/>
                <a:sym typeface="Arimo"/>
              </a:rPr>
              <a:t>L'ingénierie des caractéristiques informée et l'apprentissage profond des caractéristiques ont conduit à un ROC AUC &gt; 0,83.</a:t>
            </a:r>
          </a:p>
          <a:p>
            <a:pPr algn="l" marL="474979" indent="-237490" lvl="1">
              <a:lnSpc>
                <a:spcPts val="3511"/>
              </a:lnSpc>
              <a:buFont typeface="Arial"/>
              <a:buChar char="•"/>
            </a:pPr>
            <a:r>
              <a:rPr lang="en-US" sz="2199">
                <a:solidFill>
                  <a:srgbClr val="405449"/>
                </a:solidFill>
                <a:latin typeface="Arimo"/>
                <a:ea typeface="Arimo"/>
                <a:cs typeface="Arimo"/>
                <a:sym typeface="Arimo"/>
              </a:rPr>
              <a:t>Un pipeline de ML rigoureux a été mis en œuvre sans fuite de données.</a:t>
            </a:r>
          </a:p>
          <a:p>
            <a:pPr algn="l" marL="530860" indent="-265430" lvl="1">
              <a:lnSpc>
                <a:spcPts val="3511"/>
              </a:lnSpc>
              <a:buFont typeface="Arial"/>
              <a:buChar char="•"/>
            </a:pPr>
            <a:r>
              <a:rPr lang="en-US" sz="2200">
                <a:solidFill>
                  <a:srgbClr val="405449"/>
                </a:solidFill>
                <a:latin typeface="Arimo"/>
                <a:ea typeface="Arimo"/>
                <a:cs typeface="Arimo"/>
                <a:sym typeface="Arimo"/>
              </a:rPr>
              <a:t>Une interface utilisateur interactive de bout en bout a été développée.</a:t>
            </a:r>
          </a:p>
        </p:txBody>
      </p:sp>
      <p:sp>
        <p:nvSpPr>
          <p:cNvPr name="TextBox 11" id="11"/>
          <p:cNvSpPr txBox="true"/>
          <p:nvPr/>
        </p:nvSpPr>
        <p:spPr>
          <a:xfrm rot="0">
            <a:off x="12928406" y="3594202"/>
            <a:ext cx="4887811" cy="452437"/>
          </a:xfrm>
          <a:prstGeom prst="rect">
            <a:avLst/>
          </a:prstGeom>
        </p:spPr>
        <p:txBody>
          <a:bodyPr anchor="t" rtlCol="false" tIns="0" lIns="0" bIns="0" rIns="0">
            <a:spAutoFit/>
          </a:bodyPr>
          <a:lstStyle/>
          <a:p>
            <a:pPr algn="l">
              <a:lnSpc>
                <a:spcPts val="3369"/>
              </a:lnSpc>
            </a:pPr>
            <a:r>
              <a:rPr lang="en-US" sz="2700">
                <a:solidFill>
                  <a:srgbClr val="3B4540"/>
                </a:solidFill>
                <a:latin typeface="Fraunces"/>
                <a:ea typeface="Fraunces"/>
                <a:cs typeface="Fraunces"/>
                <a:sym typeface="Fraunces"/>
              </a:rPr>
              <a:t>Future Enhancements</a:t>
            </a:r>
          </a:p>
        </p:txBody>
      </p:sp>
      <p:sp>
        <p:nvSpPr>
          <p:cNvPr name="TextBox 12" id="12"/>
          <p:cNvSpPr txBox="true"/>
          <p:nvPr/>
        </p:nvSpPr>
        <p:spPr>
          <a:xfrm rot="0">
            <a:off x="12928406" y="4225376"/>
            <a:ext cx="4376890" cy="4813783"/>
          </a:xfrm>
          <a:prstGeom prst="rect">
            <a:avLst/>
          </a:prstGeom>
        </p:spPr>
        <p:txBody>
          <a:bodyPr anchor="t" rtlCol="false" tIns="0" lIns="0" bIns="0" rIns="0">
            <a:spAutoFit/>
          </a:bodyPr>
          <a:lstStyle/>
          <a:p>
            <a:pPr algn="l" marL="474979" indent="-237490" lvl="1">
              <a:lnSpc>
                <a:spcPts val="3511"/>
              </a:lnSpc>
              <a:buFont typeface="Arial"/>
              <a:buChar char="•"/>
            </a:pPr>
            <a:r>
              <a:rPr lang="en-US" sz="2199">
                <a:solidFill>
                  <a:srgbClr val="405449"/>
                </a:solidFill>
                <a:latin typeface="Arimo"/>
                <a:ea typeface="Arimo"/>
                <a:cs typeface="Arimo"/>
                <a:sym typeface="Arimo"/>
              </a:rPr>
              <a:t>Intégration de données en temps réel via l'API de l'INM (Institut National de la Météorologie de Tunisie).</a:t>
            </a:r>
          </a:p>
          <a:p>
            <a:pPr algn="l" marL="474979" indent="-237490" lvl="1">
              <a:lnSpc>
                <a:spcPts val="3511"/>
              </a:lnSpc>
              <a:buFont typeface="Arial"/>
              <a:buChar char="•"/>
            </a:pPr>
            <a:r>
              <a:rPr lang="en-US" sz="2199">
                <a:solidFill>
                  <a:srgbClr val="405449"/>
                </a:solidFill>
                <a:latin typeface="Arimo"/>
                <a:ea typeface="Arimo"/>
                <a:cs typeface="Arimo"/>
                <a:sym typeface="Arimo"/>
              </a:rPr>
              <a:t>Déploiement en tant que microservice API REST avec réentraînement automatique mensuel.</a:t>
            </a:r>
          </a:p>
          <a:p>
            <a:pPr algn="l" marL="530860" indent="-265430" lvl="1">
              <a:lnSpc>
                <a:spcPts val="3511"/>
              </a:lnSpc>
              <a:buFont typeface="Arial"/>
              <a:buChar char="•"/>
            </a:pPr>
            <a:r>
              <a:rPr lang="en-US" sz="2200">
                <a:solidFill>
                  <a:srgbClr val="405449"/>
                </a:solidFill>
                <a:latin typeface="Arimo"/>
                <a:ea typeface="Arimo"/>
                <a:cs typeface="Arimo"/>
                <a:sym typeface="Arimo"/>
              </a:rPr>
              <a:t>Exploration des architectures Transformer pour les séquences météorologiques.</a:t>
            </a:r>
          </a:p>
        </p:txBody>
      </p:sp>
      <p:sp>
        <p:nvSpPr>
          <p:cNvPr name="TextBox 13" id="13"/>
          <p:cNvSpPr txBox="true"/>
          <p:nvPr/>
        </p:nvSpPr>
        <p:spPr>
          <a:xfrm rot="0">
            <a:off x="17259300" y="9201150"/>
            <a:ext cx="152400" cy="209550"/>
          </a:xfrm>
          <a:prstGeom prst="rect">
            <a:avLst/>
          </a:prstGeom>
        </p:spPr>
        <p:txBody>
          <a:bodyPr anchor="t" rtlCol="false" tIns="0" lIns="0" bIns="0" rIns="0" wrap="none">
            <a:spAutoFit/>
          </a:bodyPr>
          <a:lstStyle/>
          <a:p>
            <a:pPr algn="ctr">
              <a:lnSpc>
                <a:spcPts val="3639"/>
              </a:lnSpc>
              <a:spcBef>
                <a:spcPct val="0"/>
              </a:spcBef>
            </a:pPr>
            <a:r>
              <a:rPr lang="en-US" sz="2599">
                <a:solidFill>
                  <a:srgbClr val="000000"/>
                </a:solidFill>
                <a:latin typeface="Open Sans"/>
                <a:ea typeface="Open Sans"/>
                <a:cs typeface="Open Sans"/>
                <a:sym typeface="Open Sans"/>
              </a:rPr>
              <a:t>14</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DEEEE1"/>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AFFFA"/>
            </a:solidFill>
          </p:spPr>
        </p:sp>
      </p:grpSp>
      <p:sp>
        <p:nvSpPr>
          <p:cNvPr name="TextBox 6" id="6"/>
          <p:cNvSpPr txBox="true"/>
          <p:nvPr/>
        </p:nvSpPr>
        <p:spPr>
          <a:xfrm rot="0">
            <a:off x="852783" y="705888"/>
            <a:ext cx="7454656" cy="789975"/>
          </a:xfrm>
          <a:prstGeom prst="rect">
            <a:avLst/>
          </a:prstGeom>
        </p:spPr>
        <p:txBody>
          <a:bodyPr anchor="t" rtlCol="false" tIns="0" lIns="0" bIns="0" rIns="0">
            <a:spAutoFit/>
          </a:bodyPr>
          <a:lstStyle/>
          <a:p>
            <a:pPr algn="l">
              <a:lnSpc>
                <a:spcPts val="5865"/>
              </a:lnSpc>
            </a:pPr>
            <a:r>
              <a:rPr lang="en-US" sz="4700">
                <a:solidFill>
                  <a:srgbClr val="3B4540"/>
                </a:solidFill>
                <a:latin typeface="Fraunces"/>
                <a:ea typeface="Fraunces"/>
                <a:cs typeface="Fraunces"/>
                <a:sym typeface="Fraunces"/>
              </a:rPr>
              <a:t>Questions &amp; Answers</a:t>
            </a:r>
          </a:p>
        </p:txBody>
      </p:sp>
      <p:sp>
        <p:nvSpPr>
          <p:cNvPr name="TextBox 7" id="7"/>
          <p:cNvSpPr txBox="true"/>
          <p:nvPr/>
        </p:nvSpPr>
        <p:spPr>
          <a:xfrm rot="0">
            <a:off x="852783" y="1847850"/>
            <a:ext cx="17435217" cy="429073"/>
          </a:xfrm>
          <a:prstGeom prst="rect">
            <a:avLst/>
          </a:prstGeom>
        </p:spPr>
        <p:txBody>
          <a:bodyPr anchor="t" rtlCol="false" tIns="0" lIns="0" bIns="0" rIns="0">
            <a:spAutoFit/>
          </a:bodyPr>
          <a:lstStyle/>
          <a:p>
            <a:pPr algn="l">
              <a:lnSpc>
                <a:spcPts val="2827"/>
              </a:lnSpc>
            </a:pPr>
            <a:r>
              <a:rPr lang="en-US" sz="1900">
                <a:solidFill>
                  <a:srgbClr val="405449"/>
                </a:solidFill>
                <a:latin typeface="Arimo"/>
                <a:ea typeface="Arimo"/>
                <a:cs typeface="Arimo"/>
                <a:sym typeface="Arimo"/>
              </a:rPr>
              <a:t>Addressing common questions about our model choices and methodology.</a:t>
            </a:r>
          </a:p>
        </p:txBody>
      </p:sp>
      <p:grpSp>
        <p:nvGrpSpPr>
          <p:cNvPr name="Group 8" id="8"/>
          <p:cNvGrpSpPr/>
          <p:nvPr/>
        </p:nvGrpSpPr>
        <p:grpSpPr>
          <a:xfrm rot="0">
            <a:off x="838495" y="2498084"/>
            <a:ext cx="4017169" cy="5083969"/>
            <a:chOff x="0" y="0"/>
            <a:chExt cx="5356225" cy="6778625"/>
          </a:xfrm>
        </p:grpSpPr>
        <p:sp>
          <p:nvSpPr>
            <p:cNvPr name="Freeform 9" id="9"/>
            <p:cNvSpPr/>
            <p:nvPr/>
          </p:nvSpPr>
          <p:spPr>
            <a:xfrm flipH="false" flipV="false" rot="0">
              <a:off x="0" y="0"/>
              <a:ext cx="5356225" cy="6778625"/>
            </a:xfrm>
            <a:custGeom>
              <a:avLst/>
              <a:gdLst/>
              <a:ahLst/>
              <a:cxnLst/>
              <a:rect r="r" b="b" t="t" l="l"/>
              <a:pathLst>
                <a:path h="6778625" w="5356225">
                  <a:moveTo>
                    <a:pt x="0" y="294513"/>
                  </a:moveTo>
                  <a:cubicBezTo>
                    <a:pt x="0" y="131826"/>
                    <a:pt x="131826" y="0"/>
                    <a:pt x="294513" y="0"/>
                  </a:cubicBezTo>
                  <a:lnTo>
                    <a:pt x="5061712" y="0"/>
                  </a:lnTo>
                  <a:cubicBezTo>
                    <a:pt x="5224399" y="0"/>
                    <a:pt x="5356225" y="131826"/>
                    <a:pt x="5356225" y="294513"/>
                  </a:cubicBezTo>
                  <a:lnTo>
                    <a:pt x="5356225" y="6484112"/>
                  </a:lnTo>
                  <a:cubicBezTo>
                    <a:pt x="5356225" y="6646799"/>
                    <a:pt x="5224399" y="6778625"/>
                    <a:pt x="5061712" y="6778625"/>
                  </a:cubicBezTo>
                  <a:lnTo>
                    <a:pt x="294513" y="6778625"/>
                  </a:lnTo>
                  <a:cubicBezTo>
                    <a:pt x="131826" y="6778625"/>
                    <a:pt x="0" y="6646799"/>
                    <a:pt x="0" y="6484112"/>
                  </a:cubicBezTo>
                  <a:close/>
                </a:path>
              </a:pathLst>
            </a:custGeom>
            <a:solidFill>
              <a:srgbClr val="FAFFFA"/>
            </a:solidFill>
            <a:ln w="28576" cap="sq">
              <a:solidFill>
                <a:srgbClr val="CED9CE"/>
              </a:solidFill>
              <a:prstDash val="solid"/>
              <a:miter/>
            </a:ln>
          </p:spPr>
        </p:sp>
      </p:grpSp>
      <p:sp>
        <p:nvSpPr>
          <p:cNvPr name="TextBox 10" id="10"/>
          <p:cNvSpPr txBox="true"/>
          <p:nvPr/>
        </p:nvSpPr>
        <p:spPr>
          <a:xfrm rot="0">
            <a:off x="1124988" y="2775052"/>
            <a:ext cx="3444183" cy="770925"/>
          </a:xfrm>
          <a:prstGeom prst="rect">
            <a:avLst/>
          </a:prstGeom>
        </p:spPr>
        <p:txBody>
          <a:bodyPr anchor="t" rtlCol="false" tIns="0" lIns="0" bIns="0" rIns="0">
            <a:spAutoFit/>
          </a:bodyPr>
          <a:lstStyle/>
          <a:p>
            <a:pPr algn="l">
              <a:lnSpc>
                <a:spcPts val="2870"/>
              </a:lnSpc>
            </a:pPr>
            <a:r>
              <a:rPr lang="en-US" sz="2300">
                <a:solidFill>
                  <a:srgbClr val="405449"/>
                </a:solidFill>
                <a:latin typeface="Fraunces"/>
                <a:ea typeface="Fraunces"/>
                <a:cs typeface="Fraunces"/>
                <a:sym typeface="Fraunces"/>
              </a:rPr>
              <a:t>Why CatBoost over XGBoost?</a:t>
            </a:r>
          </a:p>
        </p:txBody>
      </p:sp>
      <p:sp>
        <p:nvSpPr>
          <p:cNvPr name="TextBox 11" id="11"/>
          <p:cNvSpPr txBox="true"/>
          <p:nvPr/>
        </p:nvSpPr>
        <p:spPr>
          <a:xfrm rot="0">
            <a:off x="1124988" y="3604917"/>
            <a:ext cx="3444183" cy="2965847"/>
          </a:xfrm>
          <a:prstGeom prst="rect">
            <a:avLst/>
          </a:prstGeom>
        </p:spPr>
        <p:txBody>
          <a:bodyPr anchor="t" rtlCol="false" tIns="0" lIns="0" bIns="0" rIns="0">
            <a:spAutoFit/>
          </a:bodyPr>
          <a:lstStyle/>
          <a:p>
            <a:pPr algn="l">
              <a:lnSpc>
                <a:spcPts val="2827"/>
              </a:lnSpc>
            </a:pPr>
            <a:r>
              <a:rPr lang="en-US" sz="1900">
                <a:solidFill>
                  <a:srgbClr val="405449"/>
                </a:solidFill>
                <a:latin typeface="Arimo"/>
                <a:ea typeface="Arimo"/>
                <a:cs typeface="Arimo"/>
                <a:sym typeface="Arimo"/>
              </a:rPr>
              <a:t>CatBoost offers native handling of categorical variables and ordered boosting, crucial for our dataset's meteorological and geographical specificities, yielding a confirmed AUC of 0.83.</a:t>
            </a:r>
          </a:p>
        </p:txBody>
      </p:sp>
      <p:grpSp>
        <p:nvGrpSpPr>
          <p:cNvPr name="Group 12" id="12"/>
          <p:cNvGrpSpPr/>
          <p:nvPr/>
        </p:nvGrpSpPr>
        <p:grpSpPr>
          <a:xfrm rot="0">
            <a:off x="5036344" y="2498084"/>
            <a:ext cx="4017321" cy="5083969"/>
            <a:chOff x="0" y="0"/>
            <a:chExt cx="5356428" cy="6778625"/>
          </a:xfrm>
        </p:grpSpPr>
        <p:sp>
          <p:nvSpPr>
            <p:cNvPr name="Freeform 13" id="13"/>
            <p:cNvSpPr/>
            <p:nvPr/>
          </p:nvSpPr>
          <p:spPr>
            <a:xfrm flipH="false" flipV="false" rot="0">
              <a:off x="0" y="0"/>
              <a:ext cx="5356479" cy="6778625"/>
            </a:xfrm>
            <a:custGeom>
              <a:avLst/>
              <a:gdLst/>
              <a:ahLst/>
              <a:cxnLst/>
              <a:rect r="r" b="b" t="t" l="l"/>
              <a:pathLst>
                <a:path h="6778625" w="5356479">
                  <a:moveTo>
                    <a:pt x="0" y="294513"/>
                  </a:moveTo>
                  <a:cubicBezTo>
                    <a:pt x="0" y="131826"/>
                    <a:pt x="131826" y="0"/>
                    <a:pt x="294513" y="0"/>
                  </a:cubicBezTo>
                  <a:lnTo>
                    <a:pt x="5061966" y="0"/>
                  </a:lnTo>
                  <a:cubicBezTo>
                    <a:pt x="5224653" y="0"/>
                    <a:pt x="5356479" y="131826"/>
                    <a:pt x="5356479" y="294513"/>
                  </a:cubicBezTo>
                  <a:lnTo>
                    <a:pt x="5356479" y="6484112"/>
                  </a:lnTo>
                  <a:cubicBezTo>
                    <a:pt x="5356479" y="6646799"/>
                    <a:pt x="5224653" y="6778625"/>
                    <a:pt x="5061966" y="6778625"/>
                  </a:cubicBezTo>
                  <a:lnTo>
                    <a:pt x="294513" y="6778625"/>
                  </a:lnTo>
                  <a:cubicBezTo>
                    <a:pt x="131826" y="6778625"/>
                    <a:pt x="0" y="6646799"/>
                    <a:pt x="0" y="6484112"/>
                  </a:cubicBezTo>
                  <a:close/>
                </a:path>
              </a:pathLst>
            </a:custGeom>
            <a:solidFill>
              <a:srgbClr val="FAFFFA"/>
            </a:solidFill>
            <a:ln w="28576" cap="sq">
              <a:solidFill>
                <a:srgbClr val="CED9CE"/>
              </a:solidFill>
              <a:prstDash val="solid"/>
              <a:miter/>
            </a:ln>
          </p:spPr>
        </p:sp>
      </p:grpSp>
      <p:sp>
        <p:nvSpPr>
          <p:cNvPr name="TextBox 14" id="14"/>
          <p:cNvSpPr txBox="true"/>
          <p:nvPr/>
        </p:nvSpPr>
        <p:spPr>
          <a:xfrm rot="0">
            <a:off x="5322837" y="2775052"/>
            <a:ext cx="3444326" cy="770925"/>
          </a:xfrm>
          <a:prstGeom prst="rect">
            <a:avLst/>
          </a:prstGeom>
        </p:spPr>
        <p:txBody>
          <a:bodyPr anchor="t" rtlCol="false" tIns="0" lIns="0" bIns="0" rIns="0">
            <a:spAutoFit/>
          </a:bodyPr>
          <a:lstStyle/>
          <a:p>
            <a:pPr algn="l">
              <a:lnSpc>
                <a:spcPts val="2870"/>
              </a:lnSpc>
            </a:pPr>
            <a:r>
              <a:rPr lang="en-US" sz="2300">
                <a:solidFill>
                  <a:srgbClr val="405449"/>
                </a:solidFill>
                <a:latin typeface="Fraunces"/>
                <a:ea typeface="Fraunces"/>
                <a:cs typeface="Fraunces"/>
                <a:sym typeface="Fraunces"/>
              </a:rPr>
              <a:t>How was data leakage prevented?</a:t>
            </a:r>
          </a:p>
        </p:txBody>
      </p:sp>
      <p:sp>
        <p:nvSpPr>
          <p:cNvPr name="TextBox 15" id="15"/>
          <p:cNvSpPr txBox="true"/>
          <p:nvPr/>
        </p:nvSpPr>
        <p:spPr>
          <a:xfrm rot="0">
            <a:off x="5322837" y="3604917"/>
            <a:ext cx="3444326" cy="2994422"/>
          </a:xfrm>
          <a:prstGeom prst="rect">
            <a:avLst/>
          </a:prstGeom>
        </p:spPr>
        <p:txBody>
          <a:bodyPr anchor="t" rtlCol="false" tIns="0" lIns="0" bIns="0" rIns="0">
            <a:spAutoFit/>
          </a:bodyPr>
          <a:lstStyle/>
          <a:p>
            <a:pPr algn="l">
              <a:lnSpc>
                <a:spcPts val="2827"/>
              </a:lnSpc>
            </a:pPr>
            <a:r>
              <a:rPr lang="en-US" sz="1900">
                <a:solidFill>
                  <a:srgbClr val="405449"/>
                </a:solidFill>
                <a:latin typeface="Arimo"/>
                <a:ea typeface="Arimo"/>
                <a:cs typeface="Arimo"/>
                <a:sym typeface="Arimo"/>
              </a:rPr>
              <a:t>We fitted models exclusively on data up to 2022. For lagged features, we applied groupby("city") to ensure historical data for one city doesn't influence predictions for another within the same time window.</a:t>
            </a:r>
          </a:p>
        </p:txBody>
      </p:sp>
      <p:grpSp>
        <p:nvGrpSpPr>
          <p:cNvPr name="Group 16" id="16"/>
          <p:cNvGrpSpPr/>
          <p:nvPr/>
        </p:nvGrpSpPr>
        <p:grpSpPr>
          <a:xfrm rot="0">
            <a:off x="9234335" y="2498084"/>
            <a:ext cx="4017169" cy="5083969"/>
            <a:chOff x="0" y="0"/>
            <a:chExt cx="5356225" cy="6778625"/>
          </a:xfrm>
        </p:grpSpPr>
        <p:sp>
          <p:nvSpPr>
            <p:cNvPr name="Freeform 17" id="17"/>
            <p:cNvSpPr/>
            <p:nvPr/>
          </p:nvSpPr>
          <p:spPr>
            <a:xfrm flipH="false" flipV="false" rot="0">
              <a:off x="0" y="0"/>
              <a:ext cx="5356225" cy="6778625"/>
            </a:xfrm>
            <a:custGeom>
              <a:avLst/>
              <a:gdLst/>
              <a:ahLst/>
              <a:cxnLst/>
              <a:rect r="r" b="b" t="t" l="l"/>
              <a:pathLst>
                <a:path h="6778625" w="5356225">
                  <a:moveTo>
                    <a:pt x="0" y="294513"/>
                  </a:moveTo>
                  <a:cubicBezTo>
                    <a:pt x="0" y="131826"/>
                    <a:pt x="131826" y="0"/>
                    <a:pt x="294513" y="0"/>
                  </a:cubicBezTo>
                  <a:lnTo>
                    <a:pt x="5061712" y="0"/>
                  </a:lnTo>
                  <a:cubicBezTo>
                    <a:pt x="5224399" y="0"/>
                    <a:pt x="5356225" y="131826"/>
                    <a:pt x="5356225" y="294513"/>
                  </a:cubicBezTo>
                  <a:lnTo>
                    <a:pt x="5356225" y="6484112"/>
                  </a:lnTo>
                  <a:cubicBezTo>
                    <a:pt x="5356225" y="6646799"/>
                    <a:pt x="5224399" y="6778625"/>
                    <a:pt x="5061712" y="6778625"/>
                  </a:cubicBezTo>
                  <a:lnTo>
                    <a:pt x="294513" y="6778625"/>
                  </a:lnTo>
                  <a:cubicBezTo>
                    <a:pt x="131826" y="6778625"/>
                    <a:pt x="0" y="6646799"/>
                    <a:pt x="0" y="6484112"/>
                  </a:cubicBezTo>
                  <a:close/>
                </a:path>
              </a:pathLst>
            </a:custGeom>
            <a:solidFill>
              <a:srgbClr val="FAFFFA"/>
            </a:solidFill>
            <a:ln w="28576" cap="sq">
              <a:solidFill>
                <a:srgbClr val="CED9CE"/>
              </a:solidFill>
              <a:prstDash val="solid"/>
              <a:miter/>
            </a:ln>
          </p:spPr>
        </p:sp>
      </p:grpSp>
      <p:sp>
        <p:nvSpPr>
          <p:cNvPr name="TextBox 18" id="18"/>
          <p:cNvSpPr txBox="true"/>
          <p:nvPr/>
        </p:nvSpPr>
        <p:spPr>
          <a:xfrm rot="0">
            <a:off x="9520828" y="2775052"/>
            <a:ext cx="3444183" cy="770925"/>
          </a:xfrm>
          <a:prstGeom prst="rect">
            <a:avLst/>
          </a:prstGeom>
        </p:spPr>
        <p:txBody>
          <a:bodyPr anchor="t" rtlCol="false" tIns="0" lIns="0" bIns="0" rIns="0">
            <a:spAutoFit/>
          </a:bodyPr>
          <a:lstStyle/>
          <a:p>
            <a:pPr algn="l">
              <a:lnSpc>
                <a:spcPts val="2870"/>
              </a:lnSpc>
            </a:pPr>
            <a:r>
              <a:rPr lang="en-US" sz="2300">
                <a:solidFill>
                  <a:srgbClr val="405449"/>
                </a:solidFill>
                <a:latin typeface="Fraunces"/>
                <a:ea typeface="Fraunces"/>
                <a:cs typeface="Fraunces"/>
                <a:sym typeface="Fraunces"/>
              </a:rPr>
              <a:t>Why did Keras yield F1 = 0?</a:t>
            </a:r>
          </a:p>
        </p:txBody>
      </p:sp>
      <p:sp>
        <p:nvSpPr>
          <p:cNvPr name="TextBox 19" id="19"/>
          <p:cNvSpPr txBox="true"/>
          <p:nvPr/>
        </p:nvSpPr>
        <p:spPr>
          <a:xfrm rot="0">
            <a:off x="9520828" y="3604917"/>
            <a:ext cx="3444183" cy="3356820"/>
          </a:xfrm>
          <a:prstGeom prst="rect">
            <a:avLst/>
          </a:prstGeom>
        </p:spPr>
        <p:txBody>
          <a:bodyPr anchor="t" rtlCol="false" tIns="0" lIns="0" bIns="0" rIns="0">
            <a:spAutoFit/>
          </a:bodyPr>
          <a:lstStyle/>
          <a:p>
            <a:pPr algn="l">
              <a:lnSpc>
                <a:spcPts val="2827"/>
              </a:lnSpc>
            </a:pPr>
            <a:r>
              <a:rPr lang="en-US" sz="1900">
                <a:solidFill>
                  <a:srgbClr val="405449"/>
                </a:solidFill>
                <a:latin typeface="Arimo"/>
                <a:ea typeface="Arimo"/>
                <a:cs typeface="Arimo"/>
                <a:sym typeface="Arimo"/>
              </a:rPr>
              <a:t>The Keras model suffered from "class collapse," consistently predicting the majority class ("no rain") due to imbalanced data and the absence of explicit class_weight parameterization during training.</a:t>
            </a:r>
          </a:p>
        </p:txBody>
      </p:sp>
      <p:grpSp>
        <p:nvGrpSpPr>
          <p:cNvPr name="Group 20" id="20"/>
          <p:cNvGrpSpPr/>
          <p:nvPr/>
        </p:nvGrpSpPr>
        <p:grpSpPr>
          <a:xfrm rot="0">
            <a:off x="13432184" y="2498084"/>
            <a:ext cx="4017321" cy="5083969"/>
            <a:chOff x="0" y="0"/>
            <a:chExt cx="5356428" cy="6778625"/>
          </a:xfrm>
        </p:grpSpPr>
        <p:sp>
          <p:nvSpPr>
            <p:cNvPr name="Freeform 21" id="21"/>
            <p:cNvSpPr/>
            <p:nvPr/>
          </p:nvSpPr>
          <p:spPr>
            <a:xfrm flipH="false" flipV="false" rot="0">
              <a:off x="0" y="0"/>
              <a:ext cx="5356479" cy="6778625"/>
            </a:xfrm>
            <a:custGeom>
              <a:avLst/>
              <a:gdLst/>
              <a:ahLst/>
              <a:cxnLst/>
              <a:rect r="r" b="b" t="t" l="l"/>
              <a:pathLst>
                <a:path h="6778625" w="5356479">
                  <a:moveTo>
                    <a:pt x="0" y="294513"/>
                  </a:moveTo>
                  <a:cubicBezTo>
                    <a:pt x="0" y="131826"/>
                    <a:pt x="131826" y="0"/>
                    <a:pt x="294513" y="0"/>
                  </a:cubicBezTo>
                  <a:lnTo>
                    <a:pt x="5061966" y="0"/>
                  </a:lnTo>
                  <a:cubicBezTo>
                    <a:pt x="5224653" y="0"/>
                    <a:pt x="5356479" y="131826"/>
                    <a:pt x="5356479" y="294513"/>
                  </a:cubicBezTo>
                  <a:lnTo>
                    <a:pt x="5356479" y="6484112"/>
                  </a:lnTo>
                  <a:cubicBezTo>
                    <a:pt x="5356479" y="6646799"/>
                    <a:pt x="5224653" y="6778625"/>
                    <a:pt x="5061966" y="6778625"/>
                  </a:cubicBezTo>
                  <a:lnTo>
                    <a:pt x="294513" y="6778625"/>
                  </a:lnTo>
                  <a:cubicBezTo>
                    <a:pt x="131826" y="6778625"/>
                    <a:pt x="0" y="6646799"/>
                    <a:pt x="0" y="6484112"/>
                  </a:cubicBezTo>
                  <a:close/>
                </a:path>
              </a:pathLst>
            </a:custGeom>
            <a:solidFill>
              <a:srgbClr val="FAFFFA"/>
            </a:solidFill>
            <a:ln w="28576" cap="sq">
              <a:solidFill>
                <a:srgbClr val="CED9CE"/>
              </a:solidFill>
              <a:prstDash val="solid"/>
              <a:miter/>
            </a:ln>
          </p:spPr>
        </p:sp>
      </p:grpSp>
      <p:sp>
        <p:nvSpPr>
          <p:cNvPr name="TextBox 22" id="22"/>
          <p:cNvSpPr txBox="true"/>
          <p:nvPr/>
        </p:nvSpPr>
        <p:spPr>
          <a:xfrm rot="0">
            <a:off x="13718677" y="2775052"/>
            <a:ext cx="3444326" cy="770925"/>
          </a:xfrm>
          <a:prstGeom prst="rect">
            <a:avLst/>
          </a:prstGeom>
        </p:spPr>
        <p:txBody>
          <a:bodyPr anchor="t" rtlCol="false" tIns="0" lIns="0" bIns="0" rIns="0">
            <a:spAutoFit/>
          </a:bodyPr>
          <a:lstStyle/>
          <a:p>
            <a:pPr algn="l">
              <a:lnSpc>
                <a:spcPts val="2870"/>
              </a:lnSpc>
            </a:pPr>
            <a:r>
              <a:rPr lang="en-US" sz="2300">
                <a:solidFill>
                  <a:srgbClr val="405449"/>
                </a:solidFill>
                <a:latin typeface="Fraunces"/>
                <a:ea typeface="Fraunces"/>
                <a:cs typeface="Fraunces"/>
                <a:sym typeface="Fraunces"/>
              </a:rPr>
              <a:t>Why a 14-day window for LSTM?</a:t>
            </a:r>
          </a:p>
        </p:txBody>
      </p:sp>
      <p:sp>
        <p:nvSpPr>
          <p:cNvPr name="TextBox 23" id="23"/>
          <p:cNvSpPr txBox="true"/>
          <p:nvPr/>
        </p:nvSpPr>
        <p:spPr>
          <a:xfrm rot="0">
            <a:off x="13718677" y="3604917"/>
            <a:ext cx="3444326" cy="3690642"/>
          </a:xfrm>
          <a:prstGeom prst="rect">
            <a:avLst/>
          </a:prstGeom>
        </p:spPr>
        <p:txBody>
          <a:bodyPr anchor="t" rtlCol="false" tIns="0" lIns="0" bIns="0" rIns="0">
            <a:spAutoFit/>
          </a:bodyPr>
          <a:lstStyle/>
          <a:p>
            <a:pPr algn="l">
              <a:lnSpc>
                <a:spcPts val="2827"/>
              </a:lnSpc>
            </a:pPr>
            <a:r>
              <a:rPr lang="en-US" sz="1900">
                <a:solidFill>
                  <a:srgbClr val="405449"/>
                </a:solidFill>
                <a:latin typeface="Arimo"/>
                <a:ea typeface="Arimo"/>
                <a:cs typeface="Arimo"/>
                <a:sym typeface="Arimo"/>
              </a:rPr>
              <a:t>This duration aligns with the typical scale of Mediterranean weather fronts, often taking around two weeks to traverse from the Atlantic to Tunisia. Shorter windows (e.g., 7 days) were insufficient, while longer ones (e.g., 30 days) introduced excessive noise.</a:t>
            </a:r>
          </a:p>
        </p:txBody>
      </p:sp>
      <p:grpSp>
        <p:nvGrpSpPr>
          <p:cNvPr name="Group 24" id="24"/>
          <p:cNvGrpSpPr/>
          <p:nvPr/>
        </p:nvGrpSpPr>
        <p:grpSpPr>
          <a:xfrm rot="0">
            <a:off x="838495" y="7762723"/>
            <a:ext cx="16611009" cy="1804092"/>
            <a:chOff x="0" y="0"/>
            <a:chExt cx="22148013" cy="2405456"/>
          </a:xfrm>
        </p:grpSpPr>
        <p:sp>
          <p:nvSpPr>
            <p:cNvPr name="Freeform 25" id="25"/>
            <p:cNvSpPr/>
            <p:nvPr/>
          </p:nvSpPr>
          <p:spPr>
            <a:xfrm flipH="false" flipV="false" rot="0">
              <a:off x="0" y="0"/>
              <a:ext cx="22147912" cy="2405380"/>
            </a:xfrm>
            <a:custGeom>
              <a:avLst/>
              <a:gdLst/>
              <a:ahLst/>
              <a:cxnLst/>
              <a:rect r="r" b="b" t="t" l="l"/>
              <a:pathLst>
                <a:path h="2405380" w="22147912">
                  <a:moveTo>
                    <a:pt x="0" y="297053"/>
                  </a:moveTo>
                  <a:cubicBezTo>
                    <a:pt x="0" y="132969"/>
                    <a:pt x="132969" y="0"/>
                    <a:pt x="297053" y="0"/>
                  </a:cubicBezTo>
                  <a:lnTo>
                    <a:pt x="21850858" y="0"/>
                  </a:lnTo>
                  <a:cubicBezTo>
                    <a:pt x="22014943" y="0"/>
                    <a:pt x="22147912" y="132969"/>
                    <a:pt x="22147912" y="297053"/>
                  </a:cubicBezTo>
                  <a:lnTo>
                    <a:pt x="22147912" y="2108327"/>
                  </a:lnTo>
                  <a:cubicBezTo>
                    <a:pt x="22147912" y="2272411"/>
                    <a:pt x="22014943" y="2405380"/>
                    <a:pt x="21850858" y="2405380"/>
                  </a:cubicBezTo>
                  <a:lnTo>
                    <a:pt x="297053" y="2405380"/>
                  </a:lnTo>
                  <a:cubicBezTo>
                    <a:pt x="132969" y="2405507"/>
                    <a:pt x="0" y="2272411"/>
                    <a:pt x="0" y="2108327"/>
                  </a:cubicBezTo>
                  <a:close/>
                </a:path>
              </a:pathLst>
            </a:custGeom>
            <a:solidFill>
              <a:srgbClr val="FAFFFA"/>
            </a:solidFill>
            <a:ln w="28576" cap="sq">
              <a:solidFill>
                <a:srgbClr val="CED9CE"/>
              </a:solidFill>
              <a:prstDash val="solid"/>
              <a:miter/>
            </a:ln>
          </p:spPr>
        </p:sp>
      </p:grpSp>
      <p:sp>
        <p:nvSpPr>
          <p:cNvPr name="TextBox 26" id="26"/>
          <p:cNvSpPr txBox="true"/>
          <p:nvPr/>
        </p:nvSpPr>
        <p:spPr>
          <a:xfrm rot="0">
            <a:off x="1124988" y="8039691"/>
            <a:ext cx="5170437" cy="390230"/>
          </a:xfrm>
          <a:prstGeom prst="rect">
            <a:avLst/>
          </a:prstGeom>
        </p:spPr>
        <p:txBody>
          <a:bodyPr anchor="t" rtlCol="false" tIns="0" lIns="0" bIns="0" rIns="0">
            <a:spAutoFit/>
          </a:bodyPr>
          <a:lstStyle/>
          <a:p>
            <a:pPr algn="l">
              <a:lnSpc>
                <a:spcPts val="2870"/>
              </a:lnSpc>
            </a:pPr>
            <a:r>
              <a:rPr lang="en-US" sz="2300">
                <a:solidFill>
                  <a:srgbClr val="405449"/>
                </a:solidFill>
                <a:latin typeface="Fraunces"/>
                <a:ea typeface="Fraunces"/>
                <a:cs typeface="Fraunces"/>
                <a:sym typeface="Fraunces"/>
              </a:rPr>
              <a:t>What is the autoencoder's utility?</a:t>
            </a:r>
          </a:p>
        </p:txBody>
      </p:sp>
      <p:sp>
        <p:nvSpPr>
          <p:cNvPr name="TextBox 27" id="27"/>
          <p:cNvSpPr txBox="true"/>
          <p:nvPr/>
        </p:nvSpPr>
        <p:spPr>
          <a:xfrm rot="0">
            <a:off x="1124988" y="8488861"/>
            <a:ext cx="16038014" cy="791470"/>
          </a:xfrm>
          <a:prstGeom prst="rect">
            <a:avLst/>
          </a:prstGeom>
        </p:spPr>
        <p:txBody>
          <a:bodyPr anchor="t" rtlCol="false" tIns="0" lIns="0" bIns="0" rIns="0">
            <a:spAutoFit/>
          </a:bodyPr>
          <a:lstStyle/>
          <a:p>
            <a:pPr algn="l">
              <a:lnSpc>
                <a:spcPts val="2827"/>
              </a:lnSpc>
            </a:pPr>
            <a:r>
              <a:rPr lang="en-US" sz="1900">
                <a:solidFill>
                  <a:srgbClr val="405449"/>
                </a:solidFill>
                <a:latin typeface="Arimo"/>
                <a:ea typeface="Arimo"/>
                <a:cs typeface="Arimo"/>
                <a:sym typeface="Arimo"/>
              </a:rPr>
              <a:t>The autoencoder captures implicit, non-linear interactions within the data that are too complex or subtle to be manually formalized. It distills essential information, acting as a powerful non-linear feature extractor.</a:t>
            </a:r>
          </a:p>
        </p:txBody>
      </p:sp>
      <p:sp>
        <p:nvSpPr>
          <p:cNvPr name="TextBox 28" id="28"/>
          <p:cNvSpPr txBox="true"/>
          <p:nvPr/>
        </p:nvSpPr>
        <p:spPr>
          <a:xfrm rot="0">
            <a:off x="17259300" y="9201150"/>
            <a:ext cx="152400" cy="209550"/>
          </a:xfrm>
          <a:prstGeom prst="rect">
            <a:avLst/>
          </a:prstGeom>
        </p:spPr>
        <p:txBody>
          <a:bodyPr anchor="t" rtlCol="false" tIns="0" lIns="0" bIns="0" rIns="0" wrap="none">
            <a:spAutoFit/>
          </a:bodyPr>
          <a:lstStyle/>
          <a:p>
            <a:pPr algn="ctr">
              <a:lnSpc>
                <a:spcPts val="3639"/>
              </a:lnSpc>
              <a:spcBef>
                <a:spcPct val="0"/>
              </a:spcBef>
            </a:pPr>
            <a:r>
              <a:rPr lang="en-US" sz="2599">
                <a:solidFill>
                  <a:srgbClr val="000000"/>
                </a:solidFill>
                <a:latin typeface="Open Sans"/>
                <a:ea typeface="Open Sans"/>
                <a:cs typeface="Open Sans"/>
                <a:sym typeface="Open Sans"/>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DAHLmffRtpQ</dc:identifier>
  <dcterms:modified xsi:type="dcterms:W3CDTF">2011-08-01T06:04:30Z</dcterms:modified>
  <cp:revision>1</cp:revision>
  <dc:title>Prediction-de-Pluie-en-Tunisie .pptx</dc:title>
</cp:coreProperties>
</file>